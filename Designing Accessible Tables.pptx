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18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My topic is Designing Accessible Tables from Unit IV of Web Designing. Everything in this presentation comes from our Web Designing notes and the syllabus.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topics listed under Designing accessible tables in Unit IV of the syllabus.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notes: HTML tables arrange data into rows and columns. The table tag creates a table, tr is a row, th is a header cell which is bold and centered by default, and td is a data cell.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names understanding tables and accessibility as the first topic. In our notes, the alt attribute shows alternative text and improves accessibility. The notes also give coding style rules: lowercase tags and attributes, with advantages like readability, easier debugging and following web standards.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basic table example from our notes. The first row uses th for the headings Name, Age and City. The next rows use td for data. The border attribute with value 1 draws the lines.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attributes appear in the table examples of our notes: border, width through the style attribute, rowspan and colspan. The syllabus lists table attributes, table cell attributes and table row attributes as topics.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Rowspan merges two or more rows into a single cell, so the cell spans vertically. In our example SYBCA covers two rows, HTML and CSS. Colspan merges two or more columns, so the cell spans horizontally. In the example, Name covers two columns.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for tabular data. Practical 1 in the syllabus asks us to display education details in a tabular format. The steps are: create the table, add a heading row with th, then add data rows with td.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a layout means changing width and merging cells, as the notes show. The syllabus also lists tables inside of tables and invisible spacers under working with tables.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style a table? The syllabus objective is to style your page using CSS. Our notes say CSS properties change color, font size, margin or background color, and the border properties set style, width and color. Margin is the space outside an element.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style a table we use CSS. The notes show three ways: inline, internal and external. A rule has a selector and properties. The border shorthand combines width, style and color, like 5 pixels solid red. Border styles include dotted, dashed, solid, double and none.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tables arrange data into rows and columns using table, tr, th and td. Attributes such as border, width, rowspan and colspan control the layout, and CSS adds style. Thank you, Sir.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E1525"/>
                </a:solidFill>
                <a:latin typeface="JetBrains Mono" pitchFamily="34" charset="0"/>
                <a:ea typeface="JetBrains Mono" pitchFamily="34" charset="-122"/>
                <a:cs typeface="JetBrains Mon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05001"/>
            <a:ext cx="10566400" cy="4140199"/>
          </a:xfrm>
          <a:prstGeom prst="rect">
            <a:avLst/>
          </a:prstGeom>
          <a:noFill/>
          <a:ln/>
        </p:spPr>
        <p:txBody>
          <a:bodyPr wrap="square" lIns="0" tIns="0" rIns="0" bIns="0" rtlCol="0" anchor="t"/>
          <a:lstStyle>
            <a:lvl1pPr marL="0" indent="0" algn="l">
              <a:lnSpc>
                <a:spcPct val="140000"/>
              </a:lnSpc>
              <a:buNone/>
              <a:defRPr lang="en-US" sz="1600" dirty="0">
                <a:solidFill>
                  <a:srgbClr val="0E152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E1525"/>
                </a:solidFill>
                <a:latin typeface="JetBrains Mono" pitchFamily="34" charset="0"/>
                <a:ea typeface="JetBrains Mono" pitchFamily="34" charset="-122"/>
                <a:cs typeface="JetBrains Mon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05001"/>
            <a:ext cx="10566400" cy="4140199"/>
          </a:xfrm>
          <a:prstGeom prst="rect">
            <a:avLst/>
          </a:prstGeom>
          <a:noFill/>
          <a:ln/>
        </p:spPr>
        <p:txBody>
          <a:bodyPr wrap="square" lIns="0" tIns="0" rIns="0" bIns="0" rtlCol="0" anchor="t"/>
          <a:lstStyle>
            <a:lvl1pPr marL="0" indent="0" algn="l">
              <a:lnSpc>
                <a:spcPct val="140000"/>
              </a:lnSpc>
              <a:buNone/>
              <a:defRPr lang="en-US" sz="1600" dirty="0">
                <a:solidFill>
                  <a:srgbClr val="0E152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5"/>
        </a:solidFill>
        <a:effectLst/>
      </p:bgPr>
    </p:bg>
    <p:spTree>
      <p:nvGrpSpPr>
        <p:cNvPr id="1" name=""/>
        <p:cNvGrpSpPr/>
        <p:nvPr/>
      </p:nvGrpSpPr>
      <p:grpSpPr>
        <a:xfrm>
          <a:off x="0" y="0"/>
          <a:ext cx="0" cy="0"/>
          <a:chOff x="0" y="0"/>
          <a:chExt cx="0" cy="0"/>
        </a:xfrm>
      </p:grpSpPr>
      <p:sp>
        <p:nvSpPr>
          <p:cNvPr id="2" name="Shape 0"/>
          <p:cNvSpPr/>
          <p:nvPr/>
        </p:nvSpPr>
        <p:spPr>
          <a:xfrm>
            <a:off x="7366000" y="1333500"/>
            <a:ext cx="4013200" cy="967740"/>
          </a:xfrm>
          <a:prstGeom prst="roundRect">
            <a:avLst>
              <a:gd name="adj" fmla="val 10499"/>
            </a:avLst>
          </a:prstGeom>
          <a:solidFill>
            <a:srgbClr val="17213A"/>
          </a:solidFill>
          <a:ln/>
        </p:spPr>
        <p:txBody>
          <a:bodyPr/>
          <a:lstStyle/>
          <a:p>
            <a:endParaRPr lang="en-IN"/>
          </a:p>
        </p:txBody>
      </p:sp>
      <p:sp>
        <p:nvSpPr>
          <p:cNvPr id="3" name="Shape 1"/>
          <p:cNvSpPr/>
          <p:nvPr/>
        </p:nvSpPr>
        <p:spPr>
          <a:xfrm>
            <a:off x="7366000" y="1333500"/>
            <a:ext cx="4013200" cy="967740"/>
          </a:xfrm>
          <a:custGeom>
            <a:avLst/>
            <a:gdLst/>
            <a:ahLst/>
            <a:cxnLst/>
            <a:rect l="l" t="t" r="r" b="b"/>
            <a:pathLst>
              <a:path w="4013200" h="967740">
                <a:moveTo>
                  <a:pt x="101600" y="967740"/>
                </a:moveTo>
                <a:lnTo>
                  <a:pt x="101600" y="967740"/>
                </a:lnTo>
                <a:arcTo wR="101600" hR="101600" stAng="5400000" swAng="5400000"/>
                <a:lnTo>
                  <a:pt x="0" y="101600"/>
                </a:lnTo>
                <a:arcTo wR="101600" hR="101600" stAng="10800000" swAng="5400000"/>
                <a:lnTo>
                  <a:pt x="101600" y="0"/>
                </a:lnTo>
                <a:arcTo wR="50800" hR="101600" stAng="16200000" swAng="-5400000"/>
                <a:lnTo>
                  <a:pt x="50800" y="866140"/>
                </a:lnTo>
                <a:arcTo wR="50800" hR="101600" stAng="10800000" swAng="-5400000"/>
                <a:close/>
              </a:path>
            </a:pathLst>
          </a:custGeom>
          <a:solidFill>
            <a:srgbClr val="38BDF8"/>
          </a:solidFill>
          <a:ln/>
        </p:spPr>
        <p:txBody>
          <a:bodyPr/>
          <a:lstStyle/>
          <a:p>
            <a:endParaRPr lang="en-IN"/>
          </a:p>
        </p:txBody>
      </p:sp>
      <p:sp>
        <p:nvSpPr>
          <p:cNvPr id="4" name="Text 2"/>
          <p:cNvSpPr/>
          <p:nvPr/>
        </p:nvSpPr>
        <p:spPr>
          <a:xfrm>
            <a:off x="7620000" y="1536700"/>
            <a:ext cx="36626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8BDF8"/>
                </a:solidFill>
                <a:latin typeface="JetBrains Mono" pitchFamily="49" charset="0"/>
                <a:ea typeface="JetBrains Mono" pitchFamily="49" charset="-122"/>
                <a:cs typeface="JetBrains Mono" pitchFamily="49" charset="-120"/>
              </a:rPr>
              <a:t>UNIT IV · WEB DESIGNING</a:t>
            </a:r>
            <a:endParaRPr lang="en-US" sz="1200" dirty="0"/>
          </a:p>
        </p:txBody>
      </p:sp>
      <p:sp>
        <p:nvSpPr>
          <p:cNvPr id="5" name="Text 3"/>
          <p:cNvSpPr/>
          <p:nvPr/>
        </p:nvSpPr>
        <p:spPr>
          <a:xfrm>
            <a:off x="7620000" y="181356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ea typeface="DM Sans" pitchFamily="34" charset="-122"/>
                <a:cs typeface="DM Sans" pitchFamily="34" charset="-120"/>
              </a:rPr>
              <a:t>Designing accessible tables</a:t>
            </a:r>
            <a:endParaRPr lang="en-US" sz="1600" dirty="0"/>
          </a:p>
        </p:txBody>
      </p:sp>
      <p:sp>
        <p:nvSpPr>
          <p:cNvPr id="6" name="Shape 4"/>
          <p:cNvSpPr/>
          <p:nvPr/>
        </p:nvSpPr>
        <p:spPr>
          <a:xfrm>
            <a:off x="7366000" y="2453640"/>
            <a:ext cx="4013200" cy="967740"/>
          </a:xfrm>
          <a:prstGeom prst="roundRect">
            <a:avLst>
              <a:gd name="adj" fmla="val 10499"/>
            </a:avLst>
          </a:prstGeom>
          <a:solidFill>
            <a:srgbClr val="17213A"/>
          </a:solidFill>
          <a:ln/>
        </p:spPr>
        <p:txBody>
          <a:bodyPr/>
          <a:lstStyle/>
          <a:p>
            <a:endParaRPr lang="en-IN"/>
          </a:p>
        </p:txBody>
      </p:sp>
      <p:sp>
        <p:nvSpPr>
          <p:cNvPr id="7" name="Shape 5"/>
          <p:cNvSpPr/>
          <p:nvPr/>
        </p:nvSpPr>
        <p:spPr>
          <a:xfrm>
            <a:off x="7366000" y="2453640"/>
            <a:ext cx="4013200" cy="967740"/>
          </a:xfrm>
          <a:custGeom>
            <a:avLst/>
            <a:gdLst/>
            <a:ahLst/>
            <a:cxnLst/>
            <a:rect l="l" t="t" r="r" b="b"/>
            <a:pathLst>
              <a:path w="4013200" h="967740">
                <a:moveTo>
                  <a:pt x="101600" y="967740"/>
                </a:moveTo>
                <a:lnTo>
                  <a:pt x="101600" y="967740"/>
                </a:lnTo>
                <a:arcTo wR="101600" hR="101600" stAng="5400000" swAng="5400000"/>
                <a:lnTo>
                  <a:pt x="0" y="101600"/>
                </a:lnTo>
                <a:arcTo wR="101600" hR="101600" stAng="10800000" swAng="5400000"/>
                <a:lnTo>
                  <a:pt x="101600" y="0"/>
                </a:lnTo>
                <a:arcTo wR="50800" hR="101600" stAng="16200000" swAng="-5400000"/>
                <a:lnTo>
                  <a:pt x="50800" y="866140"/>
                </a:lnTo>
                <a:arcTo wR="50800" hR="101600" stAng="10800000" swAng="-5400000"/>
                <a:close/>
              </a:path>
            </a:pathLst>
          </a:custGeom>
          <a:solidFill>
            <a:srgbClr val="FBBF24"/>
          </a:solidFill>
          <a:ln/>
        </p:spPr>
        <p:txBody>
          <a:bodyPr/>
          <a:lstStyle/>
          <a:p>
            <a:endParaRPr lang="en-IN"/>
          </a:p>
        </p:txBody>
      </p:sp>
      <p:sp>
        <p:nvSpPr>
          <p:cNvPr id="8" name="Text 6"/>
          <p:cNvSpPr/>
          <p:nvPr/>
        </p:nvSpPr>
        <p:spPr>
          <a:xfrm>
            <a:off x="7620000" y="2656840"/>
            <a:ext cx="36626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BF24"/>
                </a:solidFill>
                <a:latin typeface="JetBrains Mono" pitchFamily="49" charset="0"/>
                <a:ea typeface="JetBrains Mono" pitchFamily="49" charset="-122"/>
                <a:cs typeface="JetBrains Mono" pitchFamily="49" charset="-120"/>
              </a:rPr>
              <a:t>TAGS</a:t>
            </a:r>
            <a:endParaRPr lang="en-US" sz="1200" dirty="0"/>
          </a:p>
        </p:txBody>
      </p:sp>
      <p:sp>
        <p:nvSpPr>
          <p:cNvPr id="9" name="Text 7"/>
          <p:cNvSpPr/>
          <p:nvPr/>
        </p:nvSpPr>
        <p:spPr>
          <a:xfrm>
            <a:off x="7620000" y="293370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ea typeface="DM Sans" pitchFamily="34" charset="-122"/>
                <a:cs typeface="DM Sans" pitchFamily="34" charset="-120"/>
              </a:rPr>
              <a:t>table · tr · th · td</a:t>
            </a:r>
            <a:endParaRPr lang="en-US" sz="1600" dirty="0"/>
          </a:p>
        </p:txBody>
      </p:sp>
      <p:sp>
        <p:nvSpPr>
          <p:cNvPr id="10" name="Shape 8"/>
          <p:cNvSpPr/>
          <p:nvPr/>
        </p:nvSpPr>
        <p:spPr>
          <a:xfrm>
            <a:off x="7366000" y="3573780"/>
            <a:ext cx="4013200" cy="967740"/>
          </a:xfrm>
          <a:prstGeom prst="roundRect">
            <a:avLst>
              <a:gd name="adj" fmla="val 10499"/>
            </a:avLst>
          </a:prstGeom>
          <a:solidFill>
            <a:srgbClr val="17213A"/>
          </a:solidFill>
          <a:ln/>
        </p:spPr>
        <p:txBody>
          <a:bodyPr/>
          <a:lstStyle/>
          <a:p>
            <a:endParaRPr lang="en-IN"/>
          </a:p>
        </p:txBody>
      </p:sp>
      <p:sp>
        <p:nvSpPr>
          <p:cNvPr id="11" name="Shape 9"/>
          <p:cNvSpPr/>
          <p:nvPr/>
        </p:nvSpPr>
        <p:spPr>
          <a:xfrm>
            <a:off x="7366000" y="3573780"/>
            <a:ext cx="4013200" cy="967740"/>
          </a:xfrm>
          <a:custGeom>
            <a:avLst/>
            <a:gdLst/>
            <a:ahLst/>
            <a:cxnLst/>
            <a:rect l="l" t="t" r="r" b="b"/>
            <a:pathLst>
              <a:path w="4013200" h="967740">
                <a:moveTo>
                  <a:pt x="101600" y="967740"/>
                </a:moveTo>
                <a:lnTo>
                  <a:pt x="101600" y="967740"/>
                </a:lnTo>
                <a:arcTo wR="101600" hR="101600" stAng="5400000" swAng="5400000"/>
                <a:lnTo>
                  <a:pt x="0" y="101600"/>
                </a:lnTo>
                <a:arcTo wR="101600" hR="101600" stAng="10800000" swAng="5400000"/>
                <a:lnTo>
                  <a:pt x="101600" y="0"/>
                </a:lnTo>
                <a:arcTo wR="50800" hR="101600" stAng="16200000" swAng="-5400000"/>
                <a:lnTo>
                  <a:pt x="50800" y="866140"/>
                </a:lnTo>
                <a:arcTo wR="50800" hR="101600" stAng="10800000" swAng="-5400000"/>
                <a:close/>
              </a:path>
            </a:pathLst>
          </a:custGeom>
          <a:solidFill>
            <a:srgbClr val="38BDF8"/>
          </a:solidFill>
          <a:ln/>
        </p:spPr>
        <p:txBody>
          <a:bodyPr/>
          <a:lstStyle/>
          <a:p>
            <a:endParaRPr lang="en-IN"/>
          </a:p>
        </p:txBody>
      </p:sp>
      <p:sp>
        <p:nvSpPr>
          <p:cNvPr id="12" name="Text 10"/>
          <p:cNvSpPr/>
          <p:nvPr/>
        </p:nvSpPr>
        <p:spPr>
          <a:xfrm>
            <a:off x="7620000" y="3776980"/>
            <a:ext cx="36626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8BDF8"/>
                </a:solidFill>
                <a:latin typeface="JetBrains Mono" pitchFamily="49" charset="0"/>
                <a:ea typeface="JetBrains Mono" pitchFamily="49" charset="-122"/>
                <a:cs typeface="JetBrains Mono" pitchFamily="49" charset="-120"/>
              </a:rPr>
              <a:t>CSS</a:t>
            </a:r>
            <a:endParaRPr lang="en-US" sz="1200" dirty="0"/>
          </a:p>
        </p:txBody>
      </p:sp>
      <p:sp>
        <p:nvSpPr>
          <p:cNvPr id="13" name="Text 11"/>
          <p:cNvSpPr/>
          <p:nvPr/>
        </p:nvSpPr>
        <p:spPr>
          <a:xfrm>
            <a:off x="7620000" y="405384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ea typeface="DM Sans" pitchFamily="34" charset="-122"/>
                <a:cs typeface="DM Sans" pitchFamily="34" charset="-120"/>
              </a:rPr>
              <a:t>Border, padding, background-color</a:t>
            </a:r>
            <a:endParaRPr lang="en-US" sz="1600" dirty="0"/>
          </a:p>
        </p:txBody>
      </p:sp>
      <p:sp>
        <p:nvSpPr>
          <p:cNvPr id="14" name="Text 1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8BDF8"/>
                </a:solidFill>
                <a:latin typeface="JetBrains Mono" pitchFamily="49" charset="0"/>
                <a:ea typeface="JetBrains Mono" pitchFamily="49" charset="-122"/>
                <a:cs typeface="JetBrains Mono" pitchFamily="49" charset="-120"/>
              </a:rPr>
              <a:t>WEB DESIGNING</a:t>
            </a:r>
            <a:endParaRPr lang="en-US" sz="1200" dirty="0"/>
          </a:p>
        </p:txBody>
      </p:sp>
      <p:sp>
        <p:nvSpPr>
          <p:cNvPr id="15" name="Text 13"/>
          <p:cNvSpPr>
            <a:spLocks noGrp="1"/>
          </p:cNvSpPr>
          <p:nvPr>
            <p:ph type="title"/>
          </p:nvPr>
        </p:nvSpPr>
        <p:spPr>
          <a:xfrm>
            <a:off x="812800" y="2486660"/>
            <a:ext cx="6540500"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E8EDF5"/>
                </a:solidFill>
                <a:latin typeface="JetBrains Mono" pitchFamily="49" charset="0"/>
                <a:ea typeface="JetBrains Mono" pitchFamily="49" charset="-122"/>
                <a:cs typeface="JetBrains Mono" pitchFamily="49" charset="-120"/>
              </a:rPr>
              <a:t>Designing Accessible Tables</a:t>
            </a:r>
            <a:endParaRPr lang="en-US" sz="4800" dirty="0"/>
          </a:p>
        </p:txBody>
      </p:sp>
      <p:sp>
        <p:nvSpPr>
          <p:cNvPr id="16" name="Shape 14"/>
          <p:cNvSpPr/>
          <p:nvPr/>
        </p:nvSpPr>
        <p:spPr>
          <a:xfrm>
            <a:off x="812800" y="5291455"/>
            <a:ext cx="10566400" cy="0"/>
          </a:xfrm>
          <a:prstGeom prst="line">
            <a:avLst/>
          </a:prstGeom>
          <a:noFill/>
          <a:ln w="6350">
            <a:solidFill>
              <a:srgbClr val="2A3A5C"/>
            </a:solidFill>
            <a:prstDash val="solid"/>
          </a:ln>
        </p:spPr>
        <p:txBody>
          <a:bodyPr/>
          <a:lstStyle/>
          <a:p>
            <a:endParaRPr lang="en-IN"/>
          </a:p>
        </p:txBody>
      </p:sp>
      <p:sp>
        <p:nvSpPr>
          <p:cNvPr id="17" name="Text 15"/>
          <p:cNvSpPr/>
          <p:nvPr/>
        </p:nvSpPr>
        <p:spPr>
          <a:xfrm>
            <a:off x="812800" y="5496560"/>
            <a:ext cx="33835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F"/>
                </a:solidFill>
                <a:latin typeface="JetBrains Mono" pitchFamily="49" charset="0"/>
                <a:ea typeface="JetBrains Mono" pitchFamily="49" charset="-122"/>
                <a:cs typeface="JetBrains Mono" pitchFamily="49" charset="-120"/>
              </a:rPr>
              <a:t>PRESENTED BY</a:t>
            </a:r>
            <a:endParaRPr lang="en-US" sz="1200" dirty="0"/>
          </a:p>
        </p:txBody>
      </p:sp>
      <p:sp>
        <p:nvSpPr>
          <p:cNvPr id="18" name="Text 16"/>
          <p:cNvSpPr/>
          <p:nvPr/>
        </p:nvSpPr>
        <p:spPr>
          <a:xfrm>
            <a:off x="812800" y="5760720"/>
            <a:ext cx="33835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ea typeface="DM Sans" pitchFamily="34" charset="-122"/>
                <a:cs typeface="DM Sans" pitchFamily="34" charset="-120"/>
              </a:rPr>
              <a:t>Abdullah Shaikh</a:t>
            </a:r>
            <a:endParaRPr lang="en-US" sz="1600" dirty="0"/>
          </a:p>
        </p:txBody>
      </p:sp>
      <p:sp>
        <p:nvSpPr>
          <p:cNvPr id="19" name="Text 17"/>
          <p:cNvSpPr/>
          <p:nvPr/>
        </p:nvSpPr>
        <p:spPr>
          <a:xfrm>
            <a:off x="4453414" y="5496560"/>
            <a:ext cx="3383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F"/>
                </a:solidFill>
                <a:latin typeface="JetBrains Mono" pitchFamily="49" charset="0"/>
                <a:ea typeface="JetBrains Mono" pitchFamily="49" charset="-122"/>
                <a:cs typeface="JetBrains Mono" pitchFamily="49" charset="-120"/>
              </a:rPr>
              <a:t>CLASS</a:t>
            </a:r>
            <a:endParaRPr lang="en-US" sz="1200" dirty="0"/>
          </a:p>
        </p:txBody>
      </p:sp>
      <p:sp>
        <p:nvSpPr>
          <p:cNvPr id="20" name="Text 18"/>
          <p:cNvSpPr/>
          <p:nvPr/>
        </p:nvSpPr>
        <p:spPr>
          <a:xfrm>
            <a:off x="4453414" y="5760720"/>
            <a:ext cx="338364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ea typeface="DM Sans" pitchFamily="34" charset="-122"/>
                <a:cs typeface="DM Sans" pitchFamily="34" charset="-120"/>
              </a:rPr>
              <a:t>SY BCA</a:t>
            </a:r>
            <a:endParaRPr lang="en-US" sz="1600" dirty="0"/>
          </a:p>
        </p:txBody>
      </p:sp>
      <p:sp>
        <p:nvSpPr>
          <p:cNvPr id="21" name="Text 19"/>
          <p:cNvSpPr/>
          <p:nvPr/>
        </p:nvSpPr>
        <p:spPr>
          <a:xfrm>
            <a:off x="8094107" y="5496560"/>
            <a:ext cx="3383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F"/>
                </a:solidFill>
                <a:latin typeface="JetBrains Mono" pitchFamily="49" charset="0"/>
                <a:ea typeface="JetBrains Mono" pitchFamily="49" charset="-122"/>
                <a:cs typeface="JetBrains Mono" pitchFamily="49" charset="-120"/>
              </a:rPr>
              <a:t>SUBJECT TEACHER</a:t>
            </a:r>
            <a:endParaRPr lang="en-US" sz="1200" dirty="0"/>
          </a:p>
        </p:txBody>
      </p:sp>
      <p:sp>
        <p:nvSpPr>
          <p:cNvPr id="22" name="Text 20"/>
          <p:cNvSpPr/>
          <p:nvPr/>
        </p:nvSpPr>
        <p:spPr>
          <a:xfrm>
            <a:off x="8094107" y="5760720"/>
            <a:ext cx="338364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5"/>
                </a:solidFill>
                <a:latin typeface="DM Sans" pitchFamily="34" charset="0"/>
              </a:rPr>
              <a:t>Prathima </a:t>
            </a:r>
            <a:r>
              <a:rPr lang="en-US" sz="1600" dirty="0" err="1">
                <a:solidFill>
                  <a:srgbClr val="E8EDF5"/>
                </a:solidFill>
                <a:latin typeface="DM Sans" pitchFamily="34" charset="0"/>
              </a:rPr>
              <a:t>Maam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92964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AGENDA</a:t>
            </a:r>
            <a:endParaRPr lang="en-US" sz="1200" dirty="0"/>
          </a:p>
        </p:txBody>
      </p:sp>
      <p:sp>
        <p:nvSpPr>
          <p:cNvPr id="3" name="Text 1"/>
          <p:cNvSpPr>
            <a:spLocks noGrp="1"/>
          </p:cNvSpPr>
          <p:nvPr>
            <p:ph type="title"/>
          </p:nvPr>
        </p:nvSpPr>
        <p:spPr>
          <a:xfrm>
            <a:off x="812800" y="11531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What we will cover</a:t>
            </a:r>
            <a:endParaRPr lang="en-US" sz="3200" dirty="0"/>
          </a:p>
        </p:txBody>
      </p:sp>
      <p:sp>
        <p:nvSpPr>
          <p:cNvPr id="4" name="Shape 2"/>
          <p:cNvSpPr/>
          <p:nvPr/>
        </p:nvSpPr>
        <p:spPr>
          <a:xfrm>
            <a:off x="812800" y="1778000"/>
            <a:ext cx="10566400" cy="574040"/>
          </a:xfrm>
          <a:prstGeom prst="roundRect">
            <a:avLst>
              <a:gd name="adj" fmla="val 17699"/>
            </a:avLst>
          </a:prstGeom>
          <a:solidFill>
            <a:srgbClr val="FBFCFE"/>
          </a:solidFill>
          <a:ln/>
        </p:spPr>
        <p:txBody>
          <a:bodyPr/>
          <a:lstStyle/>
          <a:p>
            <a:endParaRPr lang="en-IN"/>
          </a:p>
        </p:txBody>
      </p:sp>
      <p:sp>
        <p:nvSpPr>
          <p:cNvPr id="5" name="Text 3"/>
          <p:cNvSpPr/>
          <p:nvPr/>
        </p:nvSpPr>
        <p:spPr>
          <a:xfrm>
            <a:off x="1016000" y="1905000"/>
            <a:ext cx="4318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B6FA8"/>
                </a:solidFill>
                <a:latin typeface="JetBrains Mono" pitchFamily="49" charset="0"/>
                <a:ea typeface="JetBrains Mono" pitchFamily="49" charset="-122"/>
                <a:cs typeface="JetBrains Mono" pitchFamily="49" charset="-120"/>
              </a:rPr>
              <a:t>1</a:t>
            </a:r>
            <a:endParaRPr lang="en-US" sz="1800" dirty="0"/>
          </a:p>
        </p:txBody>
      </p:sp>
      <p:sp>
        <p:nvSpPr>
          <p:cNvPr id="6" name="Text 4"/>
          <p:cNvSpPr/>
          <p:nvPr/>
        </p:nvSpPr>
        <p:spPr>
          <a:xfrm>
            <a:off x="1574800" y="1913890"/>
            <a:ext cx="474983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Understanding tables and accessibility</a:t>
            </a:r>
            <a:endParaRPr lang="en-US" sz="1700" dirty="0"/>
          </a:p>
        </p:txBody>
      </p:sp>
      <p:sp>
        <p:nvSpPr>
          <p:cNvPr id="7" name="Shape 5"/>
          <p:cNvSpPr/>
          <p:nvPr/>
        </p:nvSpPr>
        <p:spPr>
          <a:xfrm>
            <a:off x="812800" y="2453640"/>
            <a:ext cx="10566400" cy="574040"/>
          </a:xfrm>
          <a:prstGeom prst="roundRect">
            <a:avLst>
              <a:gd name="adj" fmla="val 17699"/>
            </a:avLst>
          </a:prstGeom>
          <a:solidFill>
            <a:srgbClr val="FBFCFE"/>
          </a:solidFill>
          <a:ln/>
        </p:spPr>
        <p:txBody>
          <a:bodyPr/>
          <a:lstStyle/>
          <a:p>
            <a:endParaRPr lang="en-IN"/>
          </a:p>
        </p:txBody>
      </p:sp>
      <p:sp>
        <p:nvSpPr>
          <p:cNvPr id="8" name="Text 6"/>
          <p:cNvSpPr/>
          <p:nvPr/>
        </p:nvSpPr>
        <p:spPr>
          <a:xfrm>
            <a:off x="1016000" y="2580640"/>
            <a:ext cx="4318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B6FA8"/>
                </a:solidFill>
                <a:latin typeface="JetBrains Mono" pitchFamily="49" charset="0"/>
                <a:ea typeface="JetBrains Mono" pitchFamily="49" charset="-122"/>
                <a:cs typeface="JetBrains Mono" pitchFamily="49" charset="-120"/>
              </a:rPr>
              <a:t>2</a:t>
            </a:r>
            <a:endParaRPr lang="en-US" sz="1800" dirty="0"/>
          </a:p>
        </p:txBody>
      </p:sp>
      <p:sp>
        <p:nvSpPr>
          <p:cNvPr id="9" name="Text 7"/>
          <p:cNvSpPr/>
          <p:nvPr/>
        </p:nvSpPr>
        <p:spPr>
          <a:xfrm>
            <a:off x="1574800" y="2589530"/>
            <a:ext cx="3457575"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Using tables for tabular data</a:t>
            </a:r>
            <a:endParaRPr lang="en-US" sz="1700" dirty="0"/>
          </a:p>
        </p:txBody>
      </p:sp>
      <p:sp>
        <p:nvSpPr>
          <p:cNvPr id="10" name="Shape 8"/>
          <p:cNvSpPr/>
          <p:nvPr/>
        </p:nvSpPr>
        <p:spPr>
          <a:xfrm>
            <a:off x="812800" y="3129280"/>
            <a:ext cx="10566400" cy="574040"/>
          </a:xfrm>
          <a:prstGeom prst="roundRect">
            <a:avLst>
              <a:gd name="adj" fmla="val 17699"/>
            </a:avLst>
          </a:prstGeom>
          <a:solidFill>
            <a:srgbClr val="FBFCFE"/>
          </a:solidFill>
          <a:ln/>
        </p:spPr>
        <p:txBody>
          <a:bodyPr/>
          <a:lstStyle/>
          <a:p>
            <a:endParaRPr lang="en-IN"/>
          </a:p>
        </p:txBody>
      </p:sp>
      <p:sp>
        <p:nvSpPr>
          <p:cNvPr id="11" name="Text 9"/>
          <p:cNvSpPr/>
          <p:nvPr/>
        </p:nvSpPr>
        <p:spPr>
          <a:xfrm>
            <a:off x="1016000" y="3256280"/>
            <a:ext cx="4318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B6FA8"/>
                </a:solidFill>
                <a:latin typeface="JetBrains Mono" pitchFamily="49" charset="0"/>
                <a:ea typeface="JetBrains Mono" pitchFamily="49" charset="-122"/>
                <a:cs typeface="JetBrains Mono" pitchFamily="49" charset="-120"/>
              </a:rPr>
              <a:t>3</a:t>
            </a:r>
            <a:endParaRPr lang="en-US" sz="1800" dirty="0"/>
          </a:p>
        </p:txBody>
      </p:sp>
      <p:sp>
        <p:nvSpPr>
          <p:cNvPr id="12" name="Text 10"/>
          <p:cNvSpPr/>
          <p:nvPr/>
        </p:nvSpPr>
        <p:spPr>
          <a:xfrm>
            <a:off x="1574800" y="3265170"/>
            <a:ext cx="173383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Styling a table</a:t>
            </a:r>
            <a:endParaRPr lang="en-US" sz="1700" dirty="0"/>
          </a:p>
        </p:txBody>
      </p:sp>
      <p:sp>
        <p:nvSpPr>
          <p:cNvPr id="13" name="Shape 11"/>
          <p:cNvSpPr/>
          <p:nvPr/>
        </p:nvSpPr>
        <p:spPr>
          <a:xfrm>
            <a:off x="812800" y="3804920"/>
            <a:ext cx="10566400" cy="574040"/>
          </a:xfrm>
          <a:prstGeom prst="roundRect">
            <a:avLst>
              <a:gd name="adj" fmla="val 17699"/>
            </a:avLst>
          </a:prstGeom>
          <a:solidFill>
            <a:srgbClr val="FBFCFE"/>
          </a:solidFill>
          <a:ln/>
        </p:spPr>
        <p:txBody>
          <a:bodyPr/>
          <a:lstStyle/>
          <a:p>
            <a:endParaRPr lang="en-IN"/>
          </a:p>
        </p:txBody>
      </p:sp>
      <p:sp>
        <p:nvSpPr>
          <p:cNvPr id="14" name="Text 12"/>
          <p:cNvSpPr/>
          <p:nvPr/>
        </p:nvSpPr>
        <p:spPr>
          <a:xfrm>
            <a:off x="1016000" y="3931920"/>
            <a:ext cx="4318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B6FA8"/>
                </a:solidFill>
                <a:latin typeface="JetBrains Mono" pitchFamily="49" charset="0"/>
                <a:ea typeface="JetBrains Mono" pitchFamily="49" charset="-122"/>
                <a:cs typeface="JetBrains Mono" pitchFamily="49" charset="-120"/>
              </a:rPr>
              <a:t>4</a:t>
            </a:r>
            <a:endParaRPr lang="en-US" sz="1800" dirty="0"/>
          </a:p>
        </p:txBody>
      </p:sp>
      <p:sp>
        <p:nvSpPr>
          <p:cNvPr id="15" name="Text 13"/>
          <p:cNvSpPr/>
          <p:nvPr/>
        </p:nvSpPr>
        <p:spPr>
          <a:xfrm>
            <a:off x="1574800" y="3940810"/>
            <a:ext cx="2487549"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Editing table layouts</a:t>
            </a:r>
            <a:endParaRPr lang="en-US" sz="1700" dirty="0"/>
          </a:p>
        </p:txBody>
      </p:sp>
      <p:sp>
        <p:nvSpPr>
          <p:cNvPr id="16" name="Shape 14"/>
          <p:cNvSpPr/>
          <p:nvPr/>
        </p:nvSpPr>
        <p:spPr>
          <a:xfrm>
            <a:off x="812800" y="4480560"/>
            <a:ext cx="10566400" cy="574040"/>
          </a:xfrm>
          <a:prstGeom prst="roundRect">
            <a:avLst>
              <a:gd name="adj" fmla="val 17699"/>
            </a:avLst>
          </a:prstGeom>
          <a:solidFill>
            <a:srgbClr val="FBFCFE"/>
          </a:solidFill>
          <a:ln/>
        </p:spPr>
        <p:txBody>
          <a:bodyPr/>
          <a:lstStyle/>
          <a:p>
            <a:endParaRPr lang="en-IN"/>
          </a:p>
        </p:txBody>
      </p:sp>
      <p:sp>
        <p:nvSpPr>
          <p:cNvPr id="17" name="Text 15"/>
          <p:cNvSpPr/>
          <p:nvPr/>
        </p:nvSpPr>
        <p:spPr>
          <a:xfrm>
            <a:off x="1016000" y="4607560"/>
            <a:ext cx="4318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B6FA8"/>
                </a:solidFill>
                <a:latin typeface="JetBrains Mono" pitchFamily="49" charset="0"/>
                <a:ea typeface="JetBrains Mono" pitchFamily="49" charset="-122"/>
                <a:cs typeface="JetBrains Mono" pitchFamily="49" charset="-120"/>
              </a:rPr>
              <a:t>5</a:t>
            </a:r>
            <a:endParaRPr lang="en-US" sz="1800" dirty="0"/>
          </a:p>
        </p:txBody>
      </p:sp>
      <p:sp>
        <p:nvSpPr>
          <p:cNvPr id="18" name="Text 16"/>
          <p:cNvSpPr/>
          <p:nvPr/>
        </p:nvSpPr>
        <p:spPr>
          <a:xfrm>
            <a:off x="1574800" y="4616450"/>
            <a:ext cx="4020407"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Adding style to a table using CSS</a:t>
            </a:r>
            <a:endParaRPr lang="en-US" sz="1700" dirty="0"/>
          </a:p>
        </p:txBody>
      </p:sp>
      <p:sp>
        <p:nvSpPr>
          <p:cNvPr id="19" name="Text 17"/>
          <p:cNvSpPr/>
          <p:nvPr/>
        </p:nvSpPr>
        <p:spPr>
          <a:xfrm>
            <a:off x="812800" y="52324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6B85"/>
                </a:solidFill>
                <a:latin typeface="DM Sans" pitchFamily="34" charset="0"/>
                <a:ea typeface="DM Sans" pitchFamily="34" charset="-122"/>
                <a:cs typeface="DM Sans" pitchFamily="34" charset="-120"/>
              </a:rPr>
              <a:t>These five topics are the Unit IV heading "Designing accessible tables" in the syllabus.</a:t>
            </a:r>
            <a:endParaRPr lang="en-US" sz="1300" dirty="0"/>
          </a:p>
        </p:txBody>
      </p:sp>
      <p:sp>
        <p:nvSpPr>
          <p:cNvPr id="20" name="Text 18"/>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1" name="Text 19"/>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332486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1 · UNDERSTANDING TABLES</a:t>
            </a:r>
            <a:endParaRPr lang="en-US" sz="1200" dirty="0"/>
          </a:p>
        </p:txBody>
      </p:sp>
      <p:sp>
        <p:nvSpPr>
          <p:cNvPr id="3" name="Text 1"/>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What is an HTML table?</a:t>
            </a:r>
            <a:endParaRPr lang="en-US" sz="3200" dirty="0"/>
          </a:p>
        </p:txBody>
      </p:sp>
      <p:sp>
        <p:nvSpPr>
          <p:cNvPr id="4" name="Text 2"/>
          <p:cNvSpPr/>
          <p:nvPr/>
        </p:nvSpPr>
        <p:spPr>
          <a:xfrm>
            <a:off x="812800" y="18034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HTML tables allow web developers to arrange data into rows and columns.</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319021"/>
          <a:ext cx="10556240" cy="1917700"/>
        </p:xfrm>
        <a:graphic>
          <a:graphicData uri="http://schemas.openxmlformats.org/drawingml/2006/table">
            <a:tbl>
              <a:tblPr/>
              <a:tblGrid>
                <a:gridCol w="2744622">
                  <a:extLst>
                    <a:ext uri="{9D8B030D-6E8A-4147-A177-3AD203B41FA5}">
                      <a16:colId xmlns:a16="http://schemas.microsoft.com/office/drawing/2014/main" val="20000"/>
                    </a:ext>
                  </a:extLst>
                </a:gridCol>
                <a:gridCol w="7811618">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Tag</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What it does</a:t>
                      </a:r>
                      <a:endParaRPr lang="en-US" sz="1400" dirty="0">
                        <a:latin typeface="DM Sans" charset="0"/>
                        <a:ea typeface="DM Sans" charset="0"/>
                        <a:cs typeface="DM Sans" charset="0"/>
                      </a:endParaRPr>
                    </a:p>
                  </a:txBody>
                  <a:tcPr marL="62230" marR="62230" marT="62230" marB="62230">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&lt;table&gt;</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Creates a table</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&lt;tr&gt;</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Defines a table row</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&lt;th&gt;</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Defines a table header cell (bold and centered by default)</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&lt;td&gt;</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Defines a table data cell</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4"/>
                  </a:ext>
                </a:extLst>
              </a:tr>
            </a:tbl>
          </a:graphicData>
        </a:graphic>
      </p:graphicFrame>
      <p:sp>
        <p:nvSpPr>
          <p:cNvPr id="6" name="Text 3"/>
          <p:cNvSpPr/>
          <p:nvPr/>
        </p:nvSpPr>
        <p:spPr>
          <a:xfrm>
            <a:off x="812800" y="4439920"/>
            <a:ext cx="10566400" cy="502920"/>
          </a:xfrm>
          <a:prstGeom prst="roundRect">
            <a:avLst>
              <a:gd name="adj" fmla="val 15152"/>
            </a:avLst>
          </a:prstGeom>
          <a:solidFill>
            <a:srgbClr val="FBFCFE"/>
          </a:solidFill>
          <a:ln/>
        </p:spPr>
        <p:txBody>
          <a:bodyPr wrap="square" lIns="206282" tIns="104682" rIns="0" bIns="79282"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Syllabus: Working with tables, Basic Tables (Unit I).</a:t>
            </a:r>
            <a:endParaRPr lang="en-US" sz="1400" dirty="0"/>
          </a:p>
        </p:txBody>
      </p:sp>
      <p:sp>
        <p:nvSpPr>
          <p:cNvPr id="7" name="Shape 4"/>
          <p:cNvSpPr/>
          <p:nvPr/>
        </p:nvSpPr>
        <p:spPr>
          <a:xfrm>
            <a:off x="812800" y="4439920"/>
            <a:ext cx="10566400" cy="502920"/>
          </a:xfrm>
          <a:custGeom>
            <a:avLst/>
            <a:gdLst/>
            <a:ahLst/>
            <a:cxnLst/>
            <a:rect l="l" t="t" r="r" b="b"/>
            <a:pathLst>
              <a:path w="10566400" h="502920">
                <a:moveTo>
                  <a:pt x="76200" y="502920"/>
                </a:moveTo>
                <a:lnTo>
                  <a:pt x="76200" y="502920"/>
                </a:lnTo>
                <a:arcTo wR="76200" hR="76200" stAng="5400000" swAng="5400000"/>
                <a:lnTo>
                  <a:pt x="0" y="76200"/>
                </a:lnTo>
                <a:arcTo wR="76200" hR="76200" stAng="10800000" swAng="5400000"/>
                <a:lnTo>
                  <a:pt x="76200" y="0"/>
                </a:lnTo>
                <a:arcTo wR="25400" hR="76200" stAng="16200000" swAng="-5400000"/>
                <a:lnTo>
                  <a:pt x="50800" y="426720"/>
                </a:lnTo>
                <a:arcTo wR="25400" hR="76200" stAng="10800000" swAng="-5400000"/>
                <a:close/>
              </a:path>
            </a:pathLst>
          </a:custGeom>
          <a:solidFill>
            <a:srgbClr val="FBBF24"/>
          </a:solidFill>
          <a:ln/>
        </p:spPr>
        <p:txBody>
          <a:bodyPr/>
          <a:lstStyle/>
          <a:p>
            <a:endParaRPr lang="en-IN"/>
          </a:p>
        </p:txBody>
      </p:sp>
      <p:sp>
        <p:nvSpPr>
          <p:cNvPr id="8" name="Text 5"/>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9" name="Text 6"/>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405384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1 · UNDERSTANDING ACCESSIBILITY</a:t>
            </a:r>
            <a:endParaRPr lang="en-US" sz="1200" dirty="0"/>
          </a:p>
        </p:txBody>
      </p:sp>
      <p:sp>
        <p:nvSpPr>
          <p:cNvPr id="3" name="Text 1"/>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Tables and accessibility</a:t>
            </a:r>
            <a:endParaRPr lang="en-US" sz="3200" dirty="0"/>
          </a:p>
        </p:txBody>
      </p:sp>
      <p:sp>
        <p:nvSpPr>
          <p:cNvPr id="4" name="Shape 2"/>
          <p:cNvSpPr/>
          <p:nvPr/>
        </p:nvSpPr>
        <p:spPr>
          <a:xfrm>
            <a:off x="812800" y="1803400"/>
            <a:ext cx="5181600" cy="1143000"/>
          </a:xfrm>
          <a:prstGeom prst="roundRect">
            <a:avLst>
              <a:gd name="adj" fmla="val 8889"/>
            </a:avLst>
          </a:prstGeom>
          <a:solidFill>
            <a:srgbClr val="FBFCFE"/>
          </a:solidFill>
          <a:ln/>
        </p:spPr>
        <p:txBody>
          <a:bodyPr/>
          <a:lstStyle/>
          <a:p>
            <a:endParaRPr lang="en-IN"/>
          </a:p>
        </p:txBody>
      </p:sp>
      <p:sp>
        <p:nvSpPr>
          <p:cNvPr id="5" name="Shape 3"/>
          <p:cNvSpPr/>
          <p:nvPr/>
        </p:nvSpPr>
        <p:spPr>
          <a:xfrm>
            <a:off x="812800" y="1803400"/>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0B6FA8"/>
          </a:solidFill>
          <a:ln/>
        </p:spPr>
        <p:txBody>
          <a:bodyPr/>
          <a:lstStyle/>
          <a:p>
            <a:endParaRPr lang="en-IN"/>
          </a:p>
        </p:txBody>
      </p:sp>
      <p:sp>
        <p:nvSpPr>
          <p:cNvPr id="6" name="Text 4"/>
          <p:cNvSpPr/>
          <p:nvPr/>
        </p:nvSpPr>
        <p:spPr>
          <a:xfrm>
            <a:off x="1066800" y="19812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SYLLABUS TOPIC</a:t>
            </a:r>
            <a:endParaRPr lang="en-US" sz="1200" dirty="0"/>
          </a:p>
        </p:txBody>
      </p:sp>
      <p:sp>
        <p:nvSpPr>
          <p:cNvPr id="7" name="Text 5"/>
          <p:cNvSpPr/>
          <p:nvPr/>
        </p:nvSpPr>
        <p:spPr>
          <a:xfrm>
            <a:off x="1066800" y="2270761"/>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Unit IV lists "understanding tables &amp; accessibility" as the first topic of Designing accessible tables.</a:t>
            </a:r>
            <a:endParaRPr lang="en-US" sz="1400" dirty="0"/>
          </a:p>
        </p:txBody>
      </p:sp>
      <p:sp>
        <p:nvSpPr>
          <p:cNvPr id="8" name="Shape 6"/>
          <p:cNvSpPr/>
          <p:nvPr/>
        </p:nvSpPr>
        <p:spPr>
          <a:xfrm>
            <a:off x="6197600" y="1803400"/>
            <a:ext cx="5181600" cy="1143000"/>
          </a:xfrm>
          <a:prstGeom prst="roundRect">
            <a:avLst>
              <a:gd name="adj" fmla="val 8889"/>
            </a:avLst>
          </a:prstGeom>
          <a:solidFill>
            <a:srgbClr val="FBFCFE"/>
          </a:solidFill>
          <a:ln/>
        </p:spPr>
        <p:txBody>
          <a:bodyPr/>
          <a:lstStyle/>
          <a:p>
            <a:endParaRPr lang="en-IN"/>
          </a:p>
        </p:txBody>
      </p:sp>
      <p:sp>
        <p:nvSpPr>
          <p:cNvPr id="9" name="Shape 7"/>
          <p:cNvSpPr/>
          <p:nvPr/>
        </p:nvSpPr>
        <p:spPr>
          <a:xfrm>
            <a:off x="6197600" y="1803400"/>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B7791F"/>
          </a:solidFill>
          <a:ln/>
        </p:spPr>
        <p:txBody>
          <a:bodyPr/>
          <a:lstStyle/>
          <a:p>
            <a:endParaRPr lang="en-IN"/>
          </a:p>
        </p:txBody>
      </p:sp>
      <p:sp>
        <p:nvSpPr>
          <p:cNvPr id="10" name="Text 8"/>
          <p:cNvSpPr/>
          <p:nvPr/>
        </p:nvSpPr>
        <p:spPr>
          <a:xfrm>
            <a:off x="6451600" y="19812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7791F"/>
                </a:solidFill>
                <a:latin typeface="JetBrains Mono" pitchFamily="49" charset="0"/>
                <a:ea typeface="JetBrains Mono" pitchFamily="49" charset="-122"/>
                <a:cs typeface="JetBrains Mono" pitchFamily="49" charset="-120"/>
              </a:rPr>
              <a:t>FROM THE NOTES</a:t>
            </a:r>
            <a:endParaRPr lang="en-US" sz="1200" dirty="0"/>
          </a:p>
        </p:txBody>
      </p:sp>
      <p:sp>
        <p:nvSpPr>
          <p:cNvPr id="11" name="Text 9"/>
          <p:cNvSpPr/>
          <p:nvPr/>
        </p:nvSpPr>
        <p:spPr>
          <a:xfrm>
            <a:off x="6451600" y="2270761"/>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The alt attribute displays alternative text if the image cannot be loaded. It also improves accessibility.</a:t>
            </a:r>
            <a:endParaRPr lang="en-US" sz="1400" dirty="0"/>
          </a:p>
        </p:txBody>
      </p:sp>
      <p:sp>
        <p:nvSpPr>
          <p:cNvPr id="12" name="Shape 10"/>
          <p:cNvSpPr/>
          <p:nvPr/>
        </p:nvSpPr>
        <p:spPr>
          <a:xfrm>
            <a:off x="812800" y="3149600"/>
            <a:ext cx="5181600" cy="1391920"/>
          </a:xfrm>
          <a:prstGeom prst="roundRect">
            <a:avLst>
              <a:gd name="adj" fmla="val 7299"/>
            </a:avLst>
          </a:prstGeom>
          <a:solidFill>
            <a:srgbClr val="FBFCFE"/>
          </a:solidFill>
          <a:ln/>
        </p:spPr>
        <p:txBody>
          <a:bodyPr/>
          <a:lstStyle/>
          <a:p>
            <a:endParaRPr lang="en-IN"/>
          </a:p>
        </p:txBody>
      </p:sp>
      <p:sp>
        <p:nvSpPr>
          <p:cNvPr id="13" name="Shape 11"/>
          <p:cNvSpPr/>
          <p:nvPr/>
        </p:nvSpPr>
        <p:spPr>
          <a:xfrm>
            <a:off x="812800" y="3149600"/>
            <a:ext cx="5181600" cy="1391920"/>
          </a:xfrm>
          <a:custGeom>
            <a:avLst/>
            <a:gdLst/>
            <a:ahLst/>
            <a:cxnLst/>
            <a:rect l="l" t="t" r="r" b="b"/>
            <a:pathLst>
              <a:path w="5181600" h="1391920">
                <a:moveTo>
                  <a:pt x="101600" y="1391920"/>
                </a:moveTo>
                <a:lnTo>
                  <a:pt x="101600" y="1391920"/>
                </a:lnTo>
                <a:arcTo wR="101600" hR="101600" stAng="5400000" swAng="5400000"/>
                <a:lnTo>
                  <a:pt x="0" y="101600"/>
                </a:lnTo>
                <a:arcTo wR="101600" hR="101600" stAng="10800000" swAng="5400000"/>
                <a:lnTo>
                  <a:pt x="101600" y="0"/>
                </a:lnTo>
                <a:arcTo wR="50800" hR="101600" stAng="16200000" swAng="-5400000"/>
                <a:lnTo>
                  <a:pt x="50800" y="1290320"/>
                </a:lnTo>
                <a:arcTo wR="50800" hR="101600" stAng="10800000" swAng="-5400000"/>
                <a:close/>
              </a:path>
            </a:pathLst>
          </a:custGeom>
          <a:solidFill>
            <a:srgbClr val="0B6FA8"/>
          </a:solidFill>
          <a:ln/>
        </p:spPr>
        <p:txBody>
          <a:bodyPr/>
          <a:lstStyle/>
          <a:p>
            <a:endParaRPr lang="en-IN"/>
          </a:p>
        </p:txBody>
      </p:sp>
      <p:sp>
        <p:nvSpPr>
          <p:cNvPr id="14" name="Text 12"/>
          <p:cNvSpPr/>
          <p:nvPr/>
        </p:nvSpPr>
        <p:spPr>
          <a:xfrm>
            <a:off x="1066800" y="33274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CODING STYLE HELPS</a:t>
            </a:r>
            <a:endParaRPr lang="en-US" sz="1200" dirty="0"/>
          </a:p>
        </p:txBody>
      </p:sp>
      <p:sp>
        <p:nvSpPr>
          <p:cNvPr id="15" name="Text 13"/>
          <p:cNvSpPr/>
          <p:nvPr/>
        </p:nvSpPr>
        <p:spPr>
          <a:xfrm>
            <a:off x="1066800" y="3616961"/>
            <a:ext cx="486613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The notes say HTML coding style means clean, readable and maintainable code. Use lowercase element names and lowercase attribute names.</a:t>
            </a:r>
            <a:endParaRPr lang="en-US" sz="1400" dirty="0"/>
          </a:p>
        </p:txBody>
      </p:sp>
      <p:sp>
        <p:nvSpPr>
          <p:cNvPr id="16" name="Shape 14"/>
          <p:cNvSpPr/>
          <p:nvPr/>
        </p:nvSpPr>
        <p:spPr>
          <a:xfrm>
            <a:off x="6197600" y="3149600"/>
            <a:ext cx="5181600" cy="1391920"/>
          </a:xfrm>
          <a:prstGeom prst="roundRect">
            <a:avLst>
              <a:gd name="adj" fmla="val 7299"/>
            </a:avLst>
          </a:prstGeom>
          <a:solidFill>
            <a:srgbClr val="FBFCFE"/>
          </a:solidFill>
          <a:ln/>
        </p:spPr>
        <p:txBody>
          <a:bodyPr/>
          <a:lstStyle/>
          <a:p>
            <a:endParaRPr lang="en-IN"/>
          </a:p>
        </p:txBody>
      </p:sp>
      <p:sp>
        <p:nvSpPr>
          <p:cNvPr id="17" name="Shape 15"/>
          <p:cNvSpPr/>
          <p:nvPr/>
        </p:nvSpPr>
        <p:spPr>
          <a:xfrm>
            <a:off x="6197600" y="3149600"/>
            <a:ext cx="5181600" cy="1391920"/>
          </a:xfrm>
          <a:custGeom>
            <a:avLst/>
            <a:gdLst/>
            <a:ahLst/>
            <a:cxnLst/>
            <a:rect l="l" t="t" r="r" b="b"/>
            <a:pathLst>
              <a:path w="5181600" h="1391920">
                <a:moveTo>
                  <a:pt x="101600" y="1391920"/>
                </a:moveTo>
                <a:lnTo>
                  <a:pt x="101600" y="1391920"/>
                </a:lnTo>
                <a:arcTo wR="101600" hR="101600" stAng="5400000" swAng="5400000"/>
                <a:lnTo>
                  <a:pt x="0" y="101600"/>
                </a:lnTo>
                <a:arcTo wR="101600" hR="101600" stAng="10800000" swAng="5400000"/>
                <a:lnTo>
                  <a:pt x="101600" y="0"/>
                </a:lnTo>
                <a:arcTo wR="50800" hR="101600" stAng="16200000" swAng="-5400000"/>
                <a:lnTo>
                  <a:pt x="50800" y="1290320"/>
                </a:lnTo>
                <a:arcTo wR="50800" hR="101600" stAng="10800000" swAng="-5400000"/>
                <a:close/>
              </a:path>
            </a:pathLst>
          </a:custGeom>
          <a:solidFill>
            <a:srgbClr val="0B6FA8"/>
          </a:solidFill>
          <a:ln/>
        </p:spPr>
        <p:txBody>
          <a:bodyPr/>
          <a:lstStyle/>
          <a:p>
            <a:endParaRPr lang="en-IN"/>
          </a:p>
        </p:txBody>
      </p:sp>
      <p:sp>
        <p:nvSpPr>
          <p:cNvPr id="18" name="Text 16"/>
          <p:cNvSpPr/>
          <p:nvPr/>
        </p:nvSpPr>
        <p:spPr>
          <a:xfrm>
            <a:off x="6451600" y="33274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ADVANTAGES (NOTES)</a:t>
            </a:r>
            <a:endParaRPr lang="en-US" sz="1200" dirty="0"/>
          </a:p>
        </p:txBody>
      </p:sp>
      <p:sp>
        <p:nvSpPr>
          <p:cNvPr id="19" name="Text 17"/>
          <p:cNvSpPr/>
          <p:nvPr/>
        </p:nvSpPr>
        <p:spPr>
          <a:xfrm>
            <a:off x="6451600" y="3616961"/>
            <a:ext cx="486613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Improves code readability · Makes debugging easier · Simplifies maintenance · Encourages teamwork and consistency · Follows web standards.</a:t>
            </a:r>
            <a:endParaRPr lang="en-US" sz="1400" dirty="0"/>
          </a:p>
        </p:txBody>
      </p:sp>
      <p:sp>
        <p:nvSpPr>
          <p:cNvPr id="20" name="Text 18"/>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1" name="Text 19"/>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3" name="Text 1"/>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05 / 12</a:t>
            </a:r>
            <a:endParaRPr lang="en-US" sz="1200" dirty="0"/>
          </a:p>
        </p:txBody>
      </p:sp>
      <p:sp>
        <p:nvSpPr>
          <p:cNvPr id="4" name="Text 2"/>
          <p:cNvSpPr/>
          <p:nvPr/>
        </p:nvSpPr>
        <p:spPr>
          <a:xfrm>
            <a:off x="812800" y="711200"/>
            <a:ext cx="363728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2 · TABLES FOR TABULAR DATA</a:t>
            </a:r>
            <a:endParaRPr lang="en-US" sz="1200" dirty="0"/>
          </a:p>
        </p:txBody>
      </p:sp>
      <p:sp>
        <p:nvSpPr>
          <p:cNvPr id="5" name="Text 3"/>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A basic table</a:t>
            </a:r>
            <a:endParaRPr lang="en-US" sz="3200" dirty="0"/>
          </a:p>
        </p:txBody>
      </p:sp>
      <p:sp>
        <p:nvSpPr>
          <p:cNvPr id="6" name="Shape 4"/>
          <p:cNvSpPr/>
          <p:nvPr/>
        </p:nvSpPr>
        <p:spPr>
          <a:xfrm>
            <a:off x="812800" y="1752600"/>
            <a:ext cx="5624909" cy="3917950"/>
          </a:xfrm>
          <a:prstGeom prst="roundRect">
            <a:avLst>
              <a:gd name="adj" fmla="val 2593"/>
            </a:avLst>
          </a:prstGeom>
          <a:solidFill>
            <a:srgbClr val="0E1525"/>
          </a:solidFill>
          <a:ln/>
        </p:spPr>
        <p:txBody>
          <a:bodyPr/>
          <a:lstStyle/>
          <a:p>
            <a:endParaRPr lang="en-IN"/>
          </a:p>
        </p:txBody>
      </p:sp>
      <p:sp>
        <p:nvSpPr>
          <p:cNvPr id="7" name="Text 5"/>
          <p:cNvSpPr/>
          <p:nvPr/>
        </p:nvSpPr>
        <p:spPr>
          <a:xfrm>
            <a:off x="1041400" y="19304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&lt;table border="1"&gt;</a:t>
            </a:r>
            <a:endParaRPr lang="en-US" sz="1100" dirty="0"/>
          </a:p>
        </p:txBody>
      </p:sp>
      <p:sp>
        <p:nvSpPr>
          <p:cNvPr id="8" name="Text 6"/>
          <p:cNvSpPr/>
          <p:nvPr/>
        </p:nvSpPr>
        <p:spPr>
          <a:xfrm>
            <a:off x="1041400" y="21399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9" name="Text 7"/>
          <p:cNvSpPr/>
          <p:nvPr/>
        </p:nvSpPr>
        <p:spPr>
          <a:xfrm>
            <a:off x="1041400" y="23495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&lt;th&gt;Name&lt;/th&gt;</a:t>
            </a:r>
            <a:endParaRPr lang="en-US" sz="1100" dirty="0"/>
          </a:p>
        </p:txBody>
      </p:sp>
      <p:sp>
        <p:nvSpPr>
          <p:cNvPr id="10" name="Text 8"/>
          <p:cNvSpPr/>
          <p:nvPr/>
        </p:nvSpPr>
        <p:spPr>
          <a:xfrm>
            <a:off x="1041400" y="25590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&lt;th&gt;Age&lt;/th&gt;</a:t>
            </a:r>
            <a:endParaRPr lang="en-US" sz="1100" dirty="0"/>
          </a:p>
        </p:txBody>
      </p:sp>
      <p:sp>
        <p:nvSpPr>
          <p:cNvPr id="11" name="Text 9"/>
          <p:cNvSpPr/>
          <p:nvPr/>
        </p:nvSpPr>
        <p:spPr>
          <a:xfrm>
            <a:off x="1041400" y="27686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&lt;th&gt;City&lt;/th&gt;</a:t>
            </a:r>
            <a:endParaRPr lang="en-US" sz="1100" dirty="0"/>
          </a:p>
        </p:txBody>
      </p:sp>
      <p:sp>
        <p:nvSpPr>
          <p:cNvPr id="12" name="Text 10"/>
          <p:cNvSpPr/>
          <p:nvPr/>
        </p:nvSpPr>
        <p:spPr>
          <a:xfrm>
            <a:off x="1041400" y="29781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13" name="Text 11"/>
          <p:cNvSpPr/>
          <p:nvPr/>
        </p:nvSpPr>
        <p:spPr>
          <a:xfrm>
            <a:off x="1041400" y="31877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14" name="Text 12"/>
          <p:cNvSpPr/>
          <p:nvPr/>
        </p:nvSpPr>
        <p:spPr>
          <a:xfrm>
            <a:off x="1041400" y="33972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&lt;td&gt;Abdullah&lt;/td&gt;</a:t>
            </a:r>
            <a:endParaRPr lang="en-US" sz="1100" dirty="0"/>
          </a:p>
        </p:txBody>
      </p:sp>
      <p:sp>
        <p:nvSpPr>
          <p:cNvPr id="15" name="Text 13"/>
          <p:cNvSpPr/>
          <p:nvPr/>
        </p:nvSpPr>
        <p:spPr>
          <a:xfrm>
            <a:off x="1041400" y="36068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&lt;td&gt;22&lt;/td&gt;</a:t>
            </a:r>
            <a:endParaRPr lang="en-US" sz="1100" dirty="0"/>
          </a:p>
        </p:txBody>
      </p:sp>
      <p:sp>
        <p:nvSpPr>
          <p:cNvPr id="16" name="Text 14"/>
          <p:cNvSpPr/>
          <p:nvPr/>
        </p:nvSpPr>
        <p:spPr>
          <a:xfrm>
            <a:off x="1041400" y="38163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a:t>
            </a:r>
            <a:r>
              <a:rPr lang="en-US" sz="1100" dirty="0" err="1">
                <a:solidFill>
                  <a:srgbClr val="E8EDF5"/>
                </a:solidFill>
                <a:latin typeface="JetBrains Mono" pitchFamily="49" charset="0"/>
                <a:ea typeface="JetBrains Mono" pitchFamily="49" charset="-122"/>
                <a:cs typeface="JetBrains Mono" pitchFamily="49" charset="-120"/>
              </a:rPr>
              <a:t>Mumbra</a:t>
            </a:r>
            <a:r>
              <a:rPr lang="en-US" sz="1100" dirty="0">
                <a:solidFill>
                  <a:srgbClr val="E8EDF5"/>
                </a:solidFill>
                <a:latin typeface="JetBrains Mono" pitchFamily="49" charset="0"/>
                <a:ea typeface="JetBrains Mono" pitchFamily="49" charset="-122"/>
                <a:cs typeface="JetBrains Mono" pitchFamily="49" charset="-120"/>
              </a:rPr>
              <a:t>&lt;/td&gt;</a:t>
            </a:r>
            <a:endParaRPr lang="en-US" sz="1100" dirty="0"/>
          </a:p>
        </p:txBody>
      </p:sp>
      <p:sp>
        <p:nvSpPr>
          <p:cNvPr id="17" name="Text 15"/>
          <p:cNvSpPr/>
          <p:nvPr/>
        </p:nvSpPr>
        <p:spPr>
          <a:xfrm>
            <a:off x="1041400" y="40259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18" name="Text 16"/>
          <p:cNvSpPr/>
          <p:nvPr/>
        </p:nvSpPr>
        <p:spPr>
          <a:xfrm>
            <a:off x="1041400" y="42354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19" name="Text 17"/>
          <p:cNvSpPr/>
          <p:nvPr/>
        </p:nvSpPr>
        <p:spPr>
          <a:xfrm>
            <a:off x="1041400" y="44450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&lt;td&gt;Shivam&lt;/td&gt;</a:t>
            </a:r>
            <a:endParaRPr lang="en-US" sz="1100" dirty="0"/>
          </a:p>
        </p:txBody>
      </p:sp>
      <p:sp>
        <p:nvSpPr>
          <p:cNvPr id="20" name="Text 18"/>
          <p:cNvSpPr/>
          <p:nvPr/>
        </p:nvSpPr>
        <p:spPr>
          <a:xfrm>
            <a:off x="1041400" y="46545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&lt;td&gt;20&lt;/td&gt;</a:t>
            </a:r>
            <a:endParaRPr lang="en-US" sz="1100" dirty="0"/>
          </a:p>
        </p:txBody>
      </p:sp>
      <p:sp>
        <p:nvSpPr>
          <p:cNvPr id="21" name="Text 19"/>
          <p:cNvSpPr/>
          <p:nvPr/>
        </p:nvSpPr>
        <p:spPr>
          <a:xfrm>
            <a:off x="1041400" y="48641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&lt;td&gt;Vashi&lt;/td&gt;</a:t>
            </a:r>
            <a:endParaRPr lang="en-US" sz="1100" dirty="0"/>
          </a:p>
        </p:txBody>
      </p:sp>
      <p:sp>
        <p:nvSpPr>
          <p:cNvPr id="22" name="Text 20"/>
          <p:cNvSpPr/>
          <p:nvPr/>
        </p:nvSpPr>
        <p:spPr>
          <a:xfrm>
            <a:off x="1041400" y="507365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&lt;/tr&gt;</a:t>
            </a:r>
            <a:endParaRPr lang="en-US" sz="1100" dirty="0"/>
          </a:p>
        </p:txBody>
      </p:sp>
      <p:sp>
        <p:nvSpPr>
          <p:cNvPr id="23" name="Text 21"/>
          <p:cNvSpPr/>
          <p:nvPr/>
        </p:nvSpPr>
        <p:spPr>
          <a:xfrm>
            <a:off x="1041400" y="5283200"/>
            <a:ext cx="5322741"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&lt;/table&gt;</a:t>
            </a:r>
            <a:endParaRPr lang="en-US" sz="1100" dirty="0"/>
          </a:p>
        </p:txBody>
      </p:sp>
      <p:sp>
        <p:nvSpPr>
          <p:cNvPr id="24" name="Text 22"/>
          <p:cNvSpPr/>
          <p:nvPr/>
        </p:nvSpPr>
        <p:spPr>
          <a:xfrm>
            <a:off x="6691709" y="1752600"/>
            <a:ext cx="48281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FA8"/>
                </a:solidFill>
                <a:latin typeface="JetBrains Mono" pitchFamily="49" charset="0"/>
                <a:ea typeface="JetBrains Mono" pitchFamily="49" charset="-122"/>
                <a:cs typeface="JetBrains Mono" pitchFamily="49" charset="-120"/>
              </a:rPr>
              <a:t>OUTPUT</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2127221894"/>
              </p:ext>
            </p:extLst>
          </p:nvPr>
        </p:nvGraphicFramePr>
        <p:xfrm>
          <a:off x="6701869" y="2103121"/>
          <a:ext cx="4677330" cy="1150620"/>
        </p:xfrm>
        <a:graphic>
          <a:graphicData uri="http://schemas.openxmlformats.org/drawingml/2006/table">
            <a:tbl>
              <a:tblPr/>
              <a:tblGrid>
                <a:gridCol w="1590292">
                  <a:extLst>
                    <a:ext uri="{9D8B030D-6E8A-4147-A177-3AD203B41FA5}">
                      <a16:colId xmlns:a16="http://schemas.microsoft.com/office/drawing/2014/main" val="20000"/>
                    </a:ext>
                  </a:extLst>
                </a:gridCol>
                <a:gridCol w="1029013">
                  <a:extLst>
                    <a:ext uri="{9D8B030D-6E8A-4147-A177-3AD203B41FA5}">
                      <a16:colId xmlns:a16="http://schemas.microsoft.com/office/drawing/2014/main" val="20001"/>
                    </a:ext>
                  </a:extLst>
                </a:gridCol>
                <a:gridCol w="205802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Name</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Age</a:t>
                      </a:r>
                      <a:endParaRPr lang="en-US" sz="1400" dirty="0">
                        <a:latin typeface="DM Sans" charset="0"/>
                        <a:ea typeface="DM Sans" charset="0"/>
                        <a:cs typeface="DM Sans" charset="0"/>
                      </a:endParaRPr>
                    </a:p>
                  </a:txBody>
                  <a:tcPr marL="62230" marR="62230" marT="62230" marB="62230">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City</a:t>
                      </a:r>
                      <a:endParaRPr lang="en-US" sz="1400" dirty="0">
                        <a:latin typeface="DM Sans" charset="0"/>
                        <a:ea typeface="DM Sans" charset="0"/>
                        <a:cs typeface="DM Sans" charset="0"/>
                      </a:endParaRPr>
                    </a:p>
                  </a:txBody>
                  <a:tcPr marL="62230" marR="62230" marT="62230" marB="62230">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0E1525"/>
                          </a:solidFill>
                          <a:latin typeface="DM Sans" pitchFamily="34" charset="0"/>
                          <a:ea typeface="DM Sans" charset="0"/>
                          <a:cs typeface="DM Sans" charset="0"/>
                        </a:rPr>
                        <a:t>Abdullah</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22</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err="1">
                          <a:solidFill>
                            <a:srgbClr val="0E1525"/>
                          </a:solidFill>
                          <a:latin typeface="DM Sans" pitchFamily="34" charset="0"/>
                          <a:ea typeface="DM Sans" charset="0"/>
                          <a:cs typeface="DM Sans" charset="0"/>
                        </a:rPr>
                        <a:t>Mumbra</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0E1525"/>
                          </a:solidFill>
                          <a:latin typeface="DM Sans" pitchFamily="34" charset="0"/>
                          <a:ea typeface="DM Sans" charset="0"/>
                          <a:cs typeface="DM Sans" charset="0"/>
                        </a:rPr>
                        <a:t>Shivam</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20</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charset="0"/>
                          <a:cs typeface="DM Sans" charset="0"/>
                        </a:rPr>
                        <a:t>Vashi</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2"/>
                  </a:ext>
                </a:extLst>
              </a:tr>
            </a:tbl>
          </a:graphicData>
        </a:graphic>
      </p:graphicFrame>
      <p:sp>
        <p:nvSpPr>
          <p:cNvPr id="26" name="Text 23"/>
          <p:cNvSpPr/>
          <p:nvPr/>
        </p:nvSpPr>
        <p:spPr>
          <a:xfrm>
            <a:off x="6691709" y="3380739"/>
            <a:ext cx="482811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th gives the heading row. td gives the data cells. border="1" shows the table lines.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290830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2 · TABLE ATTRIBUTES</a:t>
            </a:r>
            <a:endParaRPr lang="en-US" sz="1200" dirty="0"/>
          </a:p>
        </p:txBody>
      </p:sp>
      <p:sp>
        <p:nvSpPr>
          <p:cNvPr id="3" name="Text 1"/>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Table attributes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301240"/>
        </p:xfrm>
        <a:graphic>
          <a:graphicData uri="http://schemas.openxmlformats.org/drawingml/2006/table">
            <a:tbl>
              <a:tblPr/>
              <a:tblGrid>
                <a:gridCol w="4011371">
                  <a:extLst>
                    <a:ext uri="{9D8B030D-6E8A-4147-A177-3AD203B41FA5}">
                      <a16:colId xmlns:a16="http://schemas.microsoft.com/office/drawing/2014/main" val="20000"/>
                    </a:ext>
                  </a:extLst>
                </a:gridCol>
                <a:gridCol w="6544869">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Attribute from notes</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Used for</a:t>
                      </a:r>
                      <a:endParaRPr lang="en-US" sz="1400" dirty="0">
                        <a:latin typeface="DM Sans" charset="0"/>
                        <a:ea typeface="DM Sans" charset="0"/>
                        <a:cs typeface="DM Sans" charset="0"/>
                      </a:endParaRPr>
                    </a:p>
                  </a:txBody>
                  <a:tcPr marL="62230" marR="62230" marT="62230" marB="62230">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border="1"</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Shows a border around table and cells</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style="width:50%"</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Table takes half of the width</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style="width:100%"</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Table takes the full width</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rowspan="2"</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Merge cells vertically</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colspan="2"</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Merge cells horizontally</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318000"/>
            <a:ext cx="10566400" cy="502920"/>
          </a:xfrm>
          <a:prstGeom prst="roundRect">
            <a:avLst>
              <a:gd name="adj" fmla="val 15152"/>
            </a:avLst>
          </a:prstGeom>
          <a:solidFill>
            <a:srgbClr val="FBFCFE"/>
          </a:solidFill>
          <a:ln/>
        </p:spPr>
        <p:txBody>
          <a:bodyPr wrap="square" lIns="206282" tIns="104682" rIns="0" bIns="79282"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Syllabus names Table Attributes, Table Cell Attributes and Table Row Attributes (Unit I).</a:t>
            </a:r>
            <a:endParaRPr lang="en-US" sz="1400" dirty="0"/>
          </a:p>
        </p:txBody>
      </p:sp>
      <p:sp>
        <p:nvSpPr>
          <p:cNvPr id="6" name="Shape 3"/>
          <p:cNvSpPr/>
          <p:nvPr/>
        </p:nvSpPr>
        <p:spPr>
          <a:xfrm>
            <a:off x="812800" y="4318000"/>
            <a:ext cx="10566400" cy="502920"/>
          </a:xfrm>
          <a:custGeom>
            <a:avLst/>
            <a:gdLst/>
            <a:ahLst/>
            <a:cxnLst/>
            <a:rect l="l" t="t" r="r" b="b"/>
            <a:pathLst>
              <a:path w="10566400" h="502920">
                <a:moveTo>
                  <a:pt x="76200" y="502920"/>
                </a:moveTo>
                <a:lnTo>
                  <a:pt x="76200" y="502920"/>
                </a:lnTo>
                <a:arcTo wR="76200" hR="76200" stAng="5400000" swAng="5400000"/>
                <a:lnTo>
                  <a:pt x="0" y="76200"/>
                </a:lnTo>
                <a:arcTo wR="76200" hR="76200" stAng="10800000" swAng="5400000"/>
                <a:lnTo>
                  <a:pt x="76200" y="0"/>
                </a:lnTo>
                <a:arcTo wR="25400" hR="76200" stAng="16200000" swAng="-5400000"/>
                <a:lnTo>
                  <a:pt x="50800" y="426720"/>
                </a:lnTo>
                <a:arcTo wR="25400" hR="76200" stAng="10800000" swAng="-5400000"/>
                <a:close/>
              </a:path>
            </a:pathLst>
          </a:custGeom>
          <a:solidFill>
            <a:srgbClr val="FBBF24"/>
          </a:solidFill>
          <a:ln/>
        </p:spPr>
        <p:txBody>
          <a:bodyPr/>
          <a:lstStyle/>
          <a:p>
            <a:endParaRPr lang="en-IN"/>
          </a:p>
        </p:txBody>
      </p:sp>
      <p:sp>
        <p:nvSpPr>
          <p:cNvPr id="7" name="Text 4"/>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8" name="Text 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342900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2 · TABLE CELL ATTRIBUTES</a:t>
            </a:r>
            <a:endParaRPr lang="en-US" sz="1200" dirty="0"/>
          </a:p>
        </p:txBody>
      </p:sp>
      <p:sp>
        <p:nvSpPr>
          <p:cNvPr id="3" name="Text 1"/>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rowspan and colspan</a:t>
            </a:r>
            <a:endParaRPr lang="en-US" sz="3200" dirty="0"/>
          </a:p>
        </p:txBody>
      </p:sp>
      <p:sp>
        <p:nvSpPr>
          <p:cNvPr id="4" name="Text 2"/>
          <p:cNvSpPr/>
          <p:nvPr/>
        </p:nvSpPr>
        <p:spPr>
          <a:xfrm>
            <a:off x="812800" y="1752600"/>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ROWSPAN: MERGE ROWS</a:t>
            </a:r>
            <a:endParaRPr lang="en-US" sz="1200" dirty="0"/>
          </a:p>
        </p:txBody>
      </p:sp>
      <p:sp>
        <p:nvSpPr>
          <p:cNvPr id="5" name="Text 3"/>
          <p:cNvSpPr/>
          <p:nvPr/>
        </p:nvSpPr>
        <p:spPr>
          <a:xfrm>
            <a:off x="812800" y="2067561"/>
            <a:ext cx="5156200" cy="584200"/>
          </a:xfrm>
          <a:prstGeom prst="roundRect">
            <a:avLst>
              <a:gd name="adj" fmla="val 17391"/>
            </a:avLst>
          </a:prstGeom>
          <a:solidFill>
            <a:srgbClr val="0E1525"/>
          </a:solidFill>
          <a:ln/>
        </p:spPr>
        <p:txBody>
          <a:bodyPr wrap="square" lIns="198842" tIns="148042" rIns="57872" bIns="122642"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&lt;td rowspan="2"&gt;SYBCA&lt;/td&gt;</a:t>
            </a:r>
            <a:endParaRPr lang="en-US" sz="1200" dirty="0"/>
          </a:p>
        </p:txBody>
      </p:sp>
      <p:sp>
        <p:nvSpPr>
          <p:cNvPr id="6" name="Text 4"/>
          <p:cNvSpPr/>
          <p:nvPr/>
        </p:nvSpPr>
        <p:spPr>
          <a:xfrm>
            <a:off x="819150" y="2759711"/>
            <a:ext cx="2565400" cy="477520"/>
          </a:xfrm>
          <a:prstGeom prst="rect">
            <a:avLst/>
          </a:prstGeom>
          <a:solidFill>
            <a:srgbClr val="0B6FA8"/>
          </a:solidFill>
          <a:ln w="12700">
            <a:solidFill>
              <a:srgbClr val="0B6FA8"/>
            </a:solidFill>
            <a:prstDash val="solid"/>
          </a:ln>
        </p:spPr>
        <p:txBody>
          <a:bodyPr wrap="square" lIns="156210" tIns="105410" rIns="88620" bIns="80010" rtlCol="0" anchor="t">
            <a:normAutofit/>
          </a:bodyPr>
          <a:lstStyle/>
          <a:p>
            <a:pPr marL="0" indent="0" algn="l">
              <a:lnSpc>
                <a:spcPts val="2100"/>
              </a:lnSpc>
              <a:buNone/>
            </a:pPr>
            <a:r>
              <a:rPr lang="en-US" sz="1500" b="1" dirty="0">
                <a:solidFill>
                  <a:srgbClr val="FFFFFF"/>
                </a:solidFill>
                <a:latin typeface="DM Sans" pitchFamily="34" charset="0"/>
                <a:ea typeface="DM Sans" pitchFamily="34" charset="-122"/>
                <a:cs typeface="DM Sans" pitchFamily="34" charset="-120"/>
              </a:rPr>
              <a:t>Name</a:t>
            </a:r>
            <a:endParaRPr lang="en-US" sz="1500" dirty="0"/>
          </a:p>
        </p:txBody>
      </p:sp>
      <p:sp>
        <p:nvSpPr>
          <p:cNvPr id="7" name="Text 5"/>
          <p:cNvSpPr/>
          <p:nvPr/>
        </p:nvSpPr>
        <p:spPr>
          <a:xfrm>
            <a:off x="3397250" y="2759711"/>
            <a:ext cx="2565400" cy="477520"/>
          </a:xfrm>
          <a:prstGeom prst="rect">
            <a:avLst/>
          </a:prstGeom>
          <a:solidFill>
            <a:srgbClr val="0B6FA8"/>
          </a:solidFill>
          <a:ln w="12700">
            <a:solidFill>
              <a:srgbClr val="0B6FA8"/>
            </a:solidFill>
            <a:prstDash val="solid"/>
          </a:ln>
        </p:spPr>
        <p:txBody>
          <a:bodyPr wrap="square" lIns="156210" tIns="105410" rIns="88620" bIns="80010" rtlCol="0" anchor="t">
            <a:normAutofit/>
          </a:bodyPr>
          <a:lstStyle/>
          <a:p>
            <a:pPr marL="0" indent="0" algn="l">
              <a:lnSpc>
                <a:spcPts val="2100"/>
              </a:lnSpc>
              <a:buNone/>
            </a:pPr>
            <a:r>
              <a:rPr lang="en-US" sz="1500" b="1" dirty="0">
                <a:solidFill>
                  <a:srgbClr val="FFFFFF"/>
                </a:solidFill>
                <a:latin typeface="DM Sans" pitchFamily="34" charset="0"/>
                <a:ea typeface="DM Sans" pitchFamily="34" charset="-122"/>
                <a:cs typeface="DM Sans" pitchFamily="34" charset="-120"/>
              </a:rPr>
              <a:t>Subject</a:t>
            </a:r>
            <a:endParaRPr lang="en-US" sz="1500" dirty="0"/>
          </a:p>
        </p:txBody>
      </p:sp>
      <p:sp>
        <p:nvSpPr>
          <p:cNvPr id="8" name="Text 6"/>
          <p:cNvSpPr/>
          <p:nvPr/>
        </p:nvSpPr>
        <p:spPr>
          <a:xfrm>
            <a:off x="819150" y="3249932"/>
            <a:ext cx="2565400" cy="967740"/>
          </a:xfrm>
          <a:prstGeom prst="rect">
            <a:avLst/>
          </a:prstGeom>
          <a:solidFill>
            <a:srgbClr val="FBFCFE"/>
          </a:solidFill>
          <a:ln w="12700">
            <a:solidFill>
              <a:srgbClr val="0B6FA8"/>
            </a:solidFill>
            <a:prstDash val="solid"/>
          </a:ln>
        </p:spPr>
        <p:txBody>
          <a:bodyPr wrap="square" lIns="156210" tIns="105410" rIns="88620" bIns="1054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SYBCA</a:t>
            </a:r>
            <a:endParaRPr lang="en-US" sz="1500" dirty="0"/>
          </a:p>
        </p:txBody>
      </p:sp>
      <p:sp>
        <p:nvSpPr>
          <p:cNvPr id="9" name="Text 7"/>
          <p:cNvSpPr/>
          <p:nvPr/>
        </p:nvSpPr>
        <p:spPr>
          <a:xfrm>
            <a:off x="3397250" y="3249932"/>
            <a:ext cx="2565400" cy="477520"/>
          </a:xfrm>
          <a:prstGeom prst="rect">
            <a:avLst/>
          </a:prstGeom>
          <a:solidFill>
            <a:srgbClr val="FBFCFE"/>
          </a:solidFill>
          <a:ln w="12700">
            <a:solidFill>
              <a:srgbClr val="0B6FA8"/>
            </a:solidFill>
            <a:prstDash val="solid"/>
          </a:ln>
        </p:spPr>
        <p:txBody>
          <a:bodyPr wrap="square" lIns="156210" tIns="105410" rIns="88620"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HTML</a:t>
            </a:r>
            <a:endParaRPr lang="en-US" sz="1500" dirty="0"/>
          </a:p>
        </p:txBody>
      </p:sp>
      <p:sp>
        <p:nvSpPr>
          <p:cNvPr id="10" name="Text 8"/>
          <p:cNvSpPr/>
          <p:nvPr/>
        </p:nvSpPr>
        <p:spPr>
          <a:xfrm>
            <a:off x="3397250" y="3740150"/>
            <a:ext cx="2565400" cy="477520"/>
          </a:xfrm>
          <a:prstGeom prst="rect">
            <a:avLst/>
          </a:prstGeom>
          <a:solidFill>
            <a:srgbClr val="FBFCFE"/>
          </a:solidFill>
          <a:ln w="12700">
            <a:solidFill>
              <a:srgbClr val="0B6FA8"/>
            </a:solidFill>
            <a:prstDash val="solid"/>
          </a:ln>
        </p:spPr>
        <p:txBody>
          <a:bodyPr wrap="square" lIns="156210" tIns="105410" rIns="88620"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CSS</a:t>
            </a:r>
            <a:endParaRPr lang="en-US" sz="1500" dirty="0"/>
          </a:p>
        </p:txBody>
      </p:sp>
      <p:sp>
        <p:nvSpPr>
          <p:cNvPr id="11" name="Text 9"/>
          <p:cNvSpPr/>
          <p:nvPr/>
        </p:nvSpPr>
        <p:spPr>
          <a:xfrm>
            <a:off x="812800" y="4325621"/>
            <a:ext cx="53108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1525"/>
                </a:solidFill>
                <a:latin typeface="DM Sans" pitchFamily="34" charset="0"/>
                <a:ea typeface="DM Sans" pitchFamily="34" charset="-122"/>
                <a:cs typeface="DM Sans" pitchFamily="34" charset="-120"/>
              </a:rPr>
              <a:t>Merges two or more rows into one cell. It spans vertically.</a:t>
            </a:r>
            <a:endParaRPr lang="en-US" sz="1300" dirty="0"/>
          </a:p>
        </p:txBody>
      </p:sp>
      <p:sp>
        <p:nvSpPr>
          <p:cNvPr id="12" name="Text 10"/>
          <p:cNvSpPr/>
          <p:nvPr/>
        </p:nvSpPr>
        <p:spPr>
          <a:xfrm>
            <a:off x="6223000" y="1752600"/>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COLSPAN: MERGE COLUMNS</a:t>
            </a:r>
            <a:endParaRPr lang="en-US" sz="1200" dirty="0"/>
          </a:p>
        </p:txBody>
      </p:sp>
      <p:sp>
        <p:nvSpPr>
          <p:cNvPr id="13" name="Text 11"/>
          <p:cNvSpPr/>
          <p:nvPr/>
        </p:nvSpPr>
        <p:spPr>
          <a:xfrm>
            <a:off x="6223000" y="2067561"/>
            <a:ext cx="5156200" cy="584200"/>
          </a:xfrm>
          <a:prstGeom prst="roundRect">
            <a:avLst>
              <a:gd name="adj" fmla="val 17391"/>
            </a:avLst>
          </a:prstGeom>
          <a:solidFill>
            <a:srgbClr val="0E1525"/>
          </a:solidFill>
          <a:ln/>
        </p:spPr>
        <p:txBody>
          <a:bodyPr wrap="square" lIns="198842" tIns="148042" rIns="57872" bIns="122642"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&lt;th colspan="2"&gt;Name&lt;/th&gt;</a:t>
            </a:r>
            <a:endParaRPr lang="en-US" sz="1200" dirty="0"/>
          </a:p>
        </p:txBody>
      </p:sp>
      <p:sp>
        <p:nvSpPr>
          <p:cNvPr id="14" name="Text 12"/>
          <p:cNvSpPr/>
          <p:nvPr/>
        </p:nvSpPr>
        <p:spPr>
          <a:xfrm>
            <a:off x="6229350" y="2759711"/>
            <a:ext cx="3424714" cy="477520"/>
          </a:xfrm>
          <a:prstGeom prst="rect">
            <a:avLst/>
          </a:prstGeom>
          <a:solidFill>
            <a:srgbClr val="0B6FA8"/>
          </a:solidFill>
          <a:ln w="12700">
            <a:solidFill>
              <a:srgbClr val="0B6FA8"/>
            </a:solidFill>
            <a:prstDash val="solid"/>
          </a:ln>
        </p:spPr>
        <p:txBody>
          <a:bodyPr wrap="square" lIns="156210" tIns="105410" rIns="62841" bIns="80010" rtlCol="0" anchor="t">
            <a:normAutofit/>
          </a:bodyPr>
          <a:lstStyle/>
          <a:p>
            <a:pPr marL="0" indent="0" algn="l">
              <a:lnSpc>
                <a:spcPts val="2100"/>
              </a:lnSpc>
              <a:buNone/>
            </a:pPr>
            <a:r>
              <a:rPr lang="en-US" sz="1500" b="1" dirty="0">
                <a:solidFill>
                  <a:srgbClr val="FFFFFF"/>
                </a:solidFill>
                <a:latin typeface="DM Sans" pitchFamily="34" charset="0"/>
                <a:ea typeface="DM Sans" pitchFamily="34" charset="-122"/>
                <a:cs typeface="DM Sans" pitchFamily="34" charset="-120"/>
              </a:rPr>
              <a:t>Name</a:t>
            </a:r>
            <a:endParaRPr lang="en-US" sz="1500" dirty="0"/>
          </a:p>
        </p:txBody>
      </p:sp>
      <p:sp>
        <p:nvSpPr>
          <p:cNvPr id="15" name="Text 13"/>
          <p:cNvSpPr/>
          <p:nvPr/>
        </p:nvSpPr>
        <p:spPr>
          <a:xfrm>
            <a:off x="9666764" y="2759711"/>
            <a:ext cx="1706086" cy="477520"/>
          </a:xfrm>
          <a:prstGeom prst="rect">
            <a:avLst/>
          </a:prstGeom>
          <a:solidFill>
            <a:srgbClr val="0B6FA8"/>
          </a:solidFill>
          <a:ln w="12700">
            <a:solidFill>
              <a:srgbClr val="0B6FA8"/>
            </a:solidFill>
            <a:prstDash val="solid"/>
          </a:ln>
        </p:spPr>
        <p:txBody>
          <a:bodyPr wrap="square" lIns="156210" tIns="105410" rIns="105410" bIns="80010" rtlCol="0" anchor="t">
            <a:normAutofit/>
          </a:bodyPr>
          <a:lstStyle/>
          <a:p>
            <a:pPr marL="0" indent="0" algn="l">
              <a:lnSpc>
                <a:spcPts val="2100"/>
              </a:lnSpc>
              <a:buNone/>
            </a:pPr>
            <a:r>
              <a:rPr lang="en-US" sz="1500" b="1" dirty="0">
                <a:solidFill>
                  <a:srgbClr val="FFFFFF"/>
                </a:solidFill>
                <a:latin typeface="DM Sans" pitchFamily="34" charset="0"/>
                <a:ea typeface="DM Sans" pitchFamily="34" charset="-122"/>
                <a:cs typeface="DM Sans" pitchFamily="34" charset="-120"/>
              </a:rPr>
              <a:t>Age</a:t>
            </a:r>
            <a:endParaRPr lang="en-US" sz="1500" dirty="0"/>
          </a:p>
        </p:txBody>
      </p:sp>
      <p:sp>
        <p:nvSpPr>
          <p:cNvPr id="16" name="Text 14"/>
          <p:cNvSpPr/>
          <p:nvPr/>
        </p:nvSpPr>
        <p:spPr>
          <a:xfrm>
            <a:off x="6229350" y="3249932"/>
            <a:ext cx="1706007" cy="477520"/>
          </a:xfrm>
          <a:prstGeom prst="rect">
            <a:avLst/>
          </a:prstGeom>
          <a:solidFill>
            <a:srgbClr val="FBFCFE"/>
          </a:solidFill>
          <a:ln w="12700">
            <a:solidFill>
              <a:srgbClr val="0B6FA8"/>
            </a:solidFill>
            <a:prstDash val="solid"/>
          </a:ln>
        </p:spPr>
        <p:txBody>
          <a:bodyPr wrap="square" lIns="156210" tIns="105410" rIns="105410" bIns="80010" rtlCol="0" anchor="t">
            <a:normAutofit/>
          </a:bodyPr>
          <a:lstStyle/>
          <a:p>
            <a:pPr marL="0" indent="0" algn="l">
              <a:lnSpc>
                <a:spcPts val="2100"/>
              </a:lnSpc>
              <a:buNone/>
            </a:pPr>
            <a:r>
              <a:rPr lang="en-US" sz="1500" b="1" dirty="0" err="1">
                <a:solidFill>
                  <a:srgbClr val="0E1525"/>
                </a:solidFill>
                <a:latin typeface="DM Sans" pitchFamily="34" charset="0"/>
                <a:ea typeface="DM Sans" pitchFamily="34" charset="-122"/>
                <a:cs typeface="DM Sans" pitchFamily="34" charset="-120"/>
              </a:rPr>
              <a:t>amruta</a:t>
            </a:r>
            <a:endParaRPr lang="en-US" sz="1500" dirty="0"/>
          </a:p>
        </p:txBody>
      </p:sp>
      <p:sp>
        <p:nvSpPr>
          <p:cNvPr id="17" name="Text 15"/>
          <p:cNvSpPr/>
          <p:nvPr/>
        </p:nvSpPr>
        <p:spPr>
          <a:xfrm>
            <a:off x="7948057" y="3249932"/>
            <a:ext cx="1706007" cy="477520"/>
          </a:xfrm>
          <a:prstGeom prst="rect">
            <a:avLst/>
          </a:prstGeom>
          <a:solidFill>
            <a:srgbClr val="FBFCFE"/>
          </a:solidFill>
          <a:ln w="12700">
            <a:solidFill>
              <a:srgbClr val="0B6FA8"/>
            </a:solidFill>
            <a:prstDash val="solid"/>
          </a:ln>
        </p:spPr>
        <p:txBody>
          <a:bodyPr wrap="square" lIns="156211" tIns="105410" rIns="105409"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Chalke</a:t>
            </a:r>
            <a:endParaRPr lang="en-US" sz="1500" dirty="0"/>
          </a:p>
        </p:txBody>
      </p:sp>
      <p:sp>
        <p:nvSpPr>
          <p:cNvPr id="18" name="Text 16"/>
          <p:cNvSpPr/>
          <p:nvPr/>
        </p:nvSpPr>
        <p:spPr>
          <a:xfrm>
            <a:off x="9666764" y="3249932"/>
            <a:ext cx="1706086" cy="477520"/>
          </a:xfrm>
          <a:prstGeom prst="rect">
            <a:avLst/>
          </a:prstGeom>
          <a:solidFill>
            <a:srgbClr val="FBFCFE"/>
          </a:solidFill>
          <a:ln w="12700">
            <a:solidFill>
              <a:srgbClr val="0B6FA8"/>
            </a:solidFill>
            <a:prstDash val="solid"/>
          </a:ln>
        </p:spPr>
        <p:txBody>
          <a:bodyPr wrap="square" lIns="156210" tIns="105410" rIns="105410"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23</a:t>
            </a:r>
            <a:endParaRPr lang="en-US" sz="1500" dirty="0"/>
          </a:p>
        </p:txBody>
      </p:sp>
      <p:sp>
        <p:nvSpPr>
          <p:cNvPr id="19" name="Text 17"/>
          <p:cNvSpPr/>
          <p:nvPr/>
        </p:nvSpPr>
        <p:spPr>
          <a:xfrm>
            <a:off x="6229350" y="3740150"/>
            <a:ext cx="1706007" cy="477520"/>
          </a:xfrm>
          <a:prstGeom prst="rect">
            <a:avLst/>
          </a:prstGeom>
          <a:solidFill>
            <a:srgbClr val="FBFCFE"/>
          </a:solidFill>
          <a:ln w="12700">
            <a:solidFill>
              <a:srgbClr val="0B6FA8"/>
            </a:solidFill>
            <a:prstDash val="solid"/>
          </a:ln>
        </p:spPr>
        <p:txBody>
          <a:bodyPr wrap="square" lIns="156210" tIns="105410" rIns="105410"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satyam</a:t>
            </a:r>
            <a:endParaRPr lang="en-US" sz="1500" dirty="0"/>
          </a:p>
        </p:txBody>
      </p:sp>
      <p:sp>
        <p:nvSpPr>
          <p:cNvPr id="20" name="Text 18"/>
          <p:cNvSpPr/>
          <p:nvPr/>
        </p:nvSpPr>
        <p:spPr>
          <a:xfrm>
            <a:off x="7948057" y="3740150"/>
            <a:ext cx="1706007" cy="477520"/>
          </a:xfrm>
          <a:prstGeom prst="rect">
            <a:avLst/>
          </a:prstGeom>
          <a:solidFill>
            <a:srgbClr val="FBFCFE"/>
          </a:solidFill>
          <a:ln w="12700">
            <a:solidFill>
              <a:srgbClr val="0B6FA8"/>
            </a:solidFill>
            <a:prstDash val="solid"/>
          </a:ln>
        </p:spPr>
        <p:txBody>
          <a:bodyPr wrap="square" lIns="156211" tIns="105410" rIns="105409"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Lohar</a:t>
            </a:r>
            <a:endParaRPr lang="en-US" sz="1500" dirty="0"/>
          </a:p>
        </p:txBody>
      </p:sp>
      <p:sp>
        <p:nvSpPr>
          <p:cNvPr id="21" name="Text 19"/>
          <p:cNvSpPr/>
          <p:nvPr/>
        </p:nvSpPr>
        <p:spPr>
          <a:xfrm>
            <a:off x="9666764" y="3740150"/>
            <a:ext cx="1706086" cy="477520"/>
          </a:xfrm>
          <a:prstGeom prst="rect">
            <a:avLst/>
          </a:prstGeom>
          <a:solidFill>
            <a:srgbClr val="FBFCFE"/>
          </a:solidFill>
          <a:ln w="12700">
            <a:solidFill>
              <a:srgbClr val="0B6FA8"/>
            </a:solidFill>
            <a:prstDash val="solid"/>
          </a:ln>
        </p:spPr>
        <p:txBody>
          <a:bodyPr wrap="square" lIns="156210" tIns="105410" rIns="105410" bIns="80010" rtlCol="0" anchor="t">
            <a:normAutofit/>
          </a:bodyPr>
          <a:lstStyle/>
          <a:p>
            <a:pPr marL="0" indent="0" algn="l">
              <a:lnSpc>
                <a:spcPts val="2100"/>
              </a:lnSpc>
              <a:buNone/>
            </a:pPr>
            <a:r>
              <a:rPr lang="en-US" sz="1500" b="1" dirty="0">
                <a:solidFill>
                  <a:srgbClr val="0E1525"/>
                </a:solidFill>
                <a:latin typeface="DM Sans" pitchFamily="34" charset="0"/>
                <a:ea typeface="DM Sans" pitchFamily="34" charset="-122"/>
                <a:cs typeface="DM Sans" pitchFamily="34" charset="-120"/>
              </a:rPr>
              <a:t>33</a:t>
            </a:r>
            <a:endParaRPr lang="en-US" sz="1500" dirty="0"/>
          </a:p>
        </p:txBody>
      </p:sp>
      <p:sp>
        <p:nvSpPr>
          <p:cNvPr id="22" name="Text 20"/>
          <p:cNvSpPr/>
          <p:nvPr/>
        </p:nvSpPr>
        <p:spPr>
          <a:xfrm>
            <a:off x="6223000" y="4325621"/>
            <a:ext cx="53108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1525"/>
                </a:solidFill>
                <a:latin typeface="DM Sans" pitchFamily="34" charset="0"/>
                <a:ea typeface="DM Sans" pitchFamily="34" charset="-122"/>
                <a:cs typeface="DM Sans" pitchFamily="34" charset="-120"/>
              </a:rPr>
              <a:t>Merges two or more columns into one cell. It spans horizontally.</a:t>
            </a:r>
            <a:endParaRPr lang="en-US" sz="1300" dirty="0"/>
          </a:p>
        </p:txBody>
      </p:sp>
      <p:sp>
        <p:nvSpPr>
          <p:cNvPr id="23" name="Text 21"/>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4" name="Text 2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426212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2 · USING TABLES FOR TABULAR DATA</a:t>
            </a:r>
            <a:endParaRPr lang="en-US" sz="1200" dirty="0"/>
          </a:p>
        </p:txBody>
      </p:sp>
      <p:sp>
        <p:nvSpPr>
          <p:cNvPr id="3" name="Text 1"/>
          <p:cNvSpPr>
            <a:spLocks noGrp="1"/>
          </p:cNvSpPr>
          <p:nvPr>
            <p:ph type="title"/>
          </p:nvPr>
        </p:nvSpPr>
        <p:spPr>
          <a:xfrm>
            <a:off x="812800" y="1153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Tabular data in practice</a:t>
            </a:r>
            <a:endParaRPr lang="en-US" sz="3200" dirty="0"/>
          </a:p>
        </p:txBody>
      </p:sp>
      <p:sp>
        <p:nvSpPr>
          <p:cNvPr id="4" name="Text 2"/>
          <p:cNvSpPr/>
          <p:nvPr/>
        </p:nvSpPr>
        <p:spPr>
          <a:xfrm>
            <a:off x="812800" y="17780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E1525"/>
                </a:solidFill>
                <a:latin typeface="DM Sans" pitchFamily="34" charset="0"/>
                <a:ea typeface="DM Sans" pitchFamily="34" charset="-122"/>
                <a:cs typeface="DM Sans" pitchFamily="34" charset="-120"/>
              </a:rPr>
              <a:t>Tables are used when data fits naturally in rows and columns, like names, ages and cities.</a:t>
            </a:r>
            <a:endParaRPr lang="en-US" sz="1700" dirty="0"/>
          </a:p>
        </p:txBody>
      </p:sp>
      <p:sp>
        <p:nvSpPr>
          <p:cNvPr id="5" name="Shape 3"/>
          <p:cNvSpPr/>
          <p:nvPr/>
        </p:nvSpPr>
        <p:spPr>
          <a:xfrm>
            <a:off x="812800" y="2258061"/>
            <a:ext cx="5181600" cy="1143000"/>
          </a:xfrm>
          <a:prstGeom prst="roundRect">
            <a:avLst>
              <a:gd name="adj" fmla="val 8889"/>
            </a:avLst>
          </a:prstGeom>
          <a:solidFill>
            <a:srgbClr val="FBFCFE"/>
          </a:solidFill>
          <a:ln/>
        </p:spPr>
        <p:txBody>
          <a:bodyPr/>
          <a:lstStyle/>
          <a:p>
            <a:endParaRPr lang="en-IN"/>
          </a:p>
        </p:txBody>
      </p:sp>
      <p:sp>
        <p:nvSpPr>
          <p:cNvPr id="6" name="Shape 4"/>
          <p:cNvSpPr/>
          <p:nvPr/>
        </p:nvSpPr>
        <p:spPr>
          <a:xfrm>
            <a:off x="812800" y="2258061"/>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0B6FA8"/>
          </a:solidFill>
          <a:ln/>
        </p:spPr>
        <p:txBody>
          <a:bodyPr/>
          <a:lstStyle/>
          <a:p>
            <a:endParaRPr lang="en-IN"/>
          </a:p>
        </p:txBody>
      </p:sp>
      <p:sp>
        <p:nvSpPr>
          <p:cNvPr id="7" name="Text 5"/>
          <p:cNvSpPr/>
          <p:nvPr/>
        </p:nvSpPr>
        <p:spPr>
          <a:xfrm>
            <a:off x="1066800" y="2435861"/>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PRACTICAL 1 (SYLLABUS)</a:t>
            </a:r>
            <a:endParaRPr lang="en-US" sz="1200" dirty="0"/>
          </a:p>
        </p:txBody>
      </p:sp>
      <p:sp>
        <p:nvSpPr>
          <p:cNvPr id="8" name="Text 6"/>
          <p:cNvSpPr/>
          <p:nvPr/>
        </p:nvSpPr>
        <p:spPr>
          <a:xfrm>
            <a:off x="1066800" y="2725421"/>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Write an HTML code to display your education details in a tabular format.</a:t>
            </a:r>
            <a:endParaRPr lang="en-US" sz="1400" dirty="0"/>
          </a:p>
        </p:txBody>
      </p:sp>
      <p:sp>
        <p:nvSpPr>
          <p:cNvPr id="9" name="Shape 7"/>
          <p:cNvSpPr/>
          <p:nvPr/>
        </p:nvSpPr>
        <p:spPr>
          <a:xfrm>
            <a:off x="6197600" y="2258061"/>
            <a:ext cx="5181600" cy="1143000"/>
          </a:xfrm>
          <a:prstGeom prst="roundRect">
            <a:avLst>
              <a:gd name="adj" fmla="val 8889"/>
            </a:avLst>
          </a:prstGeom>
          <a:solidFill>
            <a:srgbClr val="FBFCFE"/>
          </a:solidFill>
          <a:ln/>
        </p:spPr>
        <p:txBody>
          <a:bodyPr/>
          <a:lstStyle/>
          <a:p>
            <a:endParaRPr lang="en-IN"/>
          </a:p>
        </p:txBody>
      </p:sp>
      <p:sp>
        <p:nvSpPr>
          <p:cNvPr id="10" name="Shape 8"/>
          <p:cNvSpPr/>
          <p:nvPr/>
        </p:nvSpPr>
        <p:spPr>
          <a:xfrm>
            <a:off x="6197600" y="2258061"/>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B7791F"/>
          </a:solidFill>
          <a:ln/>
        </p:spPr>
        <p:txBody>
          <a:bodyPr/>
          <a:lstStyle/>
          <a:p>
            <a:endParaRPr lang="en-IN"/>
          </a:p>
        </p:txBody>
      </p:sp>
      <p:sp>
        <p:nvSpPr>
          <p:cNvPr id="11" name="Text 9"/>
          <p:cNvSpPr/>
          <p:nvPr/>
        </p:nvSpPr>
        <p:spPr>
          <a:xfrm>
            <a:off x="6451600" y="2435861"/>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7791F"/>
                </a:solidFill>
                <a:latin typeface="JetBrains Mono" pitchFamily="49" charset="0"/>
                <a:ea typeface="JetBrains Mono" pitchFamily="49" charset="-122"/>
                <a:cs typeface="JetBrains Mono" pitchFamily="49" charset="-120"/>
              </a:rPr>
              <a:t>EXAMPLE FROM NOTES</a:t>
            </a:r>
            <a:endParaRPr lang="en-US" sz="1200" dirty="0"/>
          </a:p>
        </p:txBody>
      </p:sp>
      <p:sp>
        <p:nvSpPr>
          <p:cNvPr id="12" name="Text 10"/>
          <p:cNvSpPr/>
          <p:nvPr/>
        </p:nvSpPr>
        <p:spPr>
          <a:xfrm>
            <a:off x="6451600" y="2725421"/>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Name, Age and City columns with a row for each person: Abdullah, Shivam.</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3589021"/>
          <a:ext cx="10556240" cy="1534160"/>
        </p:xfrm>
        <a:graphic>
          <a:graphicData uri="http://schemas.openxmlformats.org/drawingml/2006/table">
            <a:tbl>
              <a:tblPr/>
              <a:tblGrid>
                <a:gridCol w="2955747">
                  <a:extLst>
                    <a:ext uri="{9D8B030D-6E8A-4147-A177-3AD203B41FA5}">
                      <a16:colId xmlns:a16="http://schemas.microsoft.com/office/drawing/2014/main" val="20000"/>
                    </a:ext>
                  </a:extLst>
                </a:gridCol>
                <a:gridCol w="7600493">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Step</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960"/>
                        </a:lnSpc>
                        <a:buNone/>
                      </a:pPr>
                      <a:r>
                        <a:rPr lang="en-US" sz="1400" b="1" dirty="0">
                          <a:solidFill>
                            <a:srgbClr val="FFFFFF"/>
                          </a:solidFill>
                          <a:latin typeface="DM Sans" pitchFamily="34" charset="0"/>
                          <a:ea typeface="DM Sans" pitchFamily="34" charset="-122"/>
                          <a:cs typeface="DM Sans" pitchFamily="34" charset="-120"/>
                        </a:rPr>
                        <a:t>What to write</a:t>
                      </a:r>
                      <a:endParaRPr lang="en-US" sz="1400" dirty="0">
                        <a:latin typeface="DM Sans" charset="0"/>
                        <a:ea typeface="DM Sans" charset="0"/>
                        <a:cs typeface="DM Sans" charset="0"/>
                      </a:endParaRPr>
                    </a:p>
                  </a:txBody>
                  <a:tcPr marL="62230" marR="62230" marT="62230" marB="62230">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1. Table</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&lt;table border="1"&gt; ... &lt;/table&gt;</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2. Heading row</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&lt;tr&gt; with &lt;th&gt; cells</a:t>
                      </a:r>
                      <a:endParaRPr lang="en-US" sz="1400" dirty="0">
                        <a:latin typeface="DM Sans" charset="0"/>
                        <a:ea typeface="DM Sans" charset="0"/>
                        <a:cs typeface="DM Sans" charset="0"/>
                      </a:endParaRPr>
                    </a:p>
                  </a:txBody>
                  <a:tcPr marL="62230" marR="62230" marT="62230" marB="62230">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3. Data rows</a:t>
                      </a:r>
                      <a:endParaRPr lang="en-US" sz="1400" dirty="0">
                        <a:latin typeface="DM Sans" charset="0"/>
                        <a:ea typeface="DM Sans" charset="0"/>
                        <a:cs typeface="DM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960"/>
                        </a:lnSpc>
                        <a:buNone/>
                      </a:pPr>
                      <a:r>
                        <a:rPr lang="en-US" sz="1400" dirty="0">
                          <a:solidFill>
                            <a:srgbClr val="0E1525"/>
                          </a:solidFill>
                          <a:latin typeface="DM Sans" pitchFamily="34" charset="0"/>
                          <a:ea typeface="DM Sans" pitchFamily="34" charset="-122"/>
                          <a:cs typeface="DM Sans" pitchFamily="34" charset="-120"/>
                        </a:rPr>
                        <a:t>&lt;tr&gt; with &lt;td&gt; cells</a:t>
                      </a:r>
                      <a:endParaRPr lang="en-US" sz="1400" dirty="0">
                        <a:latin typeface="DM Sans" charset="0"/>
                        <a:ea typeface="DM Sans" charset="0"/>
                        <a:cs typeface="DM Sans" charset="0"/>
                      </a:endParaRPr>
                    </a:p>
                  </a:txBody>
                  <a:tcPr marL="62230" marR="62230" marT="62230" marB="6223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3"/>
                  </a:ext>
                </a:extLst>
              </a:tr>
            </a:tbl>
          </a:graphicData>
        </a:graphic>
      </p:graphicFrame>
      <p:sp>
        <p:nvSpPr>
          <p:cNvPr id="14" name="Text 11"/>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342900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3 · EDITING TABLE LAYOUTS</a:t>
            </a:r>
            <a:endParaRPr lang="en-US" sz="1200" dirty="0"/>
          </a:p>
        </p:txBody>
      </p:sp>
      <p:sp>
        <p:nvSpPr>
          <p:cNvPr id="3" name="Text 1"/>
          <p:cNvSpPr>
            <a:spLocks noGrp="1"/>
          </p:cNvSpPr>
          <p:nvPr>
            <p:ph type="title"/>
          </p:nvPr>
        </p:nvSpPr>
        <p:spPr>
          <a:xfrm>
            <a:off x="812800" y="1153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Editing table layouts</a:t>
            </a:r>
            <a:endParaRPr lang="en-US" sz="3200" dirty="0"/>
          </a:p>
        </p:txBody>
      </p:sp>
      <p:sp>
        <p:nvSpPr>
          <p:cNvPr id="4" name="Shape 2"/>
          <p:cNvSpPr/>
          <p:nvPr/>
        </p:nvSpPr>
        <p:spPr>
          <a:xfrm>
            <a:off x="812800" y="1778000"/>
            <a:ext cx="5181600" cy="1143000"/>
          </a:xfrm>
          <a:prstGeom prst="roundRect">
            <a:avLst>
              <a:gd name="adj" fmla="val 8889"/>
            </a:avLst>
          </a:prstGeom>
          <a:solidFill>
            <a:srgbClr val="FBFCFE"/>
          </a:solidFill>
          <a:ln/>
        </p:spPr>
        <p:txBody>
          <a:bodyPr/>
          <a:lstStyle/>
          <a:p>
            <a:endParaRPr lang="en-IN"/>
          </a:p>
        </p:txBody>
      </p:sp>
      <p:sp>
        <p:nvSpPr>
          <p:cNvPr id="5" name="Shape 3"/>
          <p:cNvSpPr/>
          <p:nvPr/>
        </p:nvSpPr>
        <p:spPr>
          <a:xfrm>
            <a:off x="812800" y="1778000"/>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0B6FA8"/>
          </a:solidFill>
          <a:ln/>
        </p:spPr>
        <p:txBody>
          <a:bodyPr/>
          <a:lstStyle/>
          <a:p>
            <a:endParaRPr lang="en-IN"/>
          </a:p>
        </p:txBody>
      </p:sp>
      <p:sp>
        <p:nvSpPr>
          <p:cNvPr id="6" name="Text 4"/>
          <p:cNvSpPr/>
          <p:nvPr/>
        </p:nvSpPr>
        <p:spPr>
          <a:xfrm>
            <a:off x="1066800" y="19558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FROM THE NOTES</a:t>
            </a:r>
            <a:endParaRPr lang="en-US" sz="1200" dirty="0"/>
          </a:p>
        </p:txBody>
      </p:sp>
      <p:sp>
        <p:nvSpPr>
          <p:cNvPr id="7" name="Text 5"/>
          <p:cNvSpPr/>
          <p:nvPr/>
        </p:nvSpPr>
        <p:spPr>
          <a:xfrm>
            <a:off x="1066800" y="2245364"/>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Change the width with style="width:50%" or 100%. Merge cells with rowspan and colspan.</a:t>
            </a:r>
            <a:endParaRPr lang="en-US" sz="1400" dirty="0"/>
          </a:p>
        </p:txBody>
      </p:sp>
      <p:sp>
        <p:nvSpPr>
          <p:cNvPr id="8" name="Shape 6"/>
          <p:cNvSpPr/>
          <p:nvPr/>
        </p:nvSpPr>
        <p:spPr>
          <a:xfrm>
            <a:off x="6197600" y="1778000"/>
            <a:ext cx="5181600" cy="1143000"/>
          </a:xfrm>
          <a:prstGeom prst="roundRect">
            <a:avLst>
              <a:gd name="adj" fmla="val 8889"/>
            </a:avLst>
          </a:prstGeom>
          <a:solidFill>
            <a:srgbClr val="FBFCFE"/>
          </a:solidFill>
          <a:ln/>
        </p:spPr>
        <p:txBody>
          <a:bodyPr/>
          <a:lstStyle/>
          <a:p>
            <a:endParaRPr lang="en-IN"/>
          </a:p>
        </p:txBody>
      </p:sp>
      <p:sp>
        <p:nvSpPr>
          <p:cNvPr id="9" name="Shape 7"/>
          <p:cNvSpPr/>
          <p:nvPr/>
        </p:nvSpPr>
        <p:spPr>
          <a:xfrm>
            <a:off x="6197600" y="1778000"/>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B7791F"/>
          </a:solidFill>
          <a:ln/>
        </p:spPr>
        <p:txBody>
          <a:bodyPr/>
          <a:lstStyle/>
          <a:p>
            <a:endParaRPr lang="en-IN"/>
          </a:p>
        </p:txBody>
      </p:sp>
      <p:sp>
        <p:nvSpPr>
          <p:cNvPr id="10" name="Text 8"/>
          <p:cNvSpPr/>
          <p:nvPr/>
        </p:nvSpPr>
        <p:spPr>
          <a:xfrm>
            <a:off x="6451600" y="19558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7791F"/>
                </a:solidFill>
                <a:latin typeface="JetBrains Mono" pitchFamily="49" charset="0"/>
                <a:ea typeface="JetBrains Mono" pitchFamily="49" charset="-122"/>
                <a:cs typeface="JetBrains Mono" pitchFamily="49" charset="-120"/>
              </a:rPr>
              <a:t>SYLLABUS TOPICS (UNIT I)</a:t>
            </a:r>
            <a:endParaRPr lang="en-US" sz="1200" dirty="0"/>
          </a:p>
        </p:txBody>
      </p:sp>
      <p:sp>
        <p:nvSpPr>
          <p:cNvPr id="11" name="Text 9"/>
          <p:cNvSpPr/>
          <p:nvPr/>
        </p:nvSpPr>
        <p:spPr>
          <a:xfrm>
            <a:off x="6451600" y="2245364"/>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Tables Inside of Tables · Invisible Spacers · Table Cell Attributes · Table Row Attributes</a:t>
            </a:r>
            <a:endParaRPr lang="en-US" sz="1400" dirty="0"/>
          </a:p>
        </p:txBody>
      </p:sp>
      <p:sp>
        <p:nvSpPr>
          <p:cNvPr id="12" name="Shape 10"/>
          <p:cNvSpPr/>
          <p:nvPr/>
        </p:nvSpPr>
        <p:spPr>
          <a:xfrm>
            <a:off x="812800" y="3098800"/>
            <a:ext cx="10566400" cy="1498600"/>
          </a:xfrm>
          <a:prstGeom prst="roundRect">
            <a:avLst>
              <a:gd name="adj" fmla="val 6780"/>
            </a:avLst>
          </a:prstGeom>
          <a:solidFill>
            <a:srgbClr val="0E1525"/>
          </a:solidFill>
          <a:ln/>
        </p:spPr>
        <p:txBody>
          <a:bodyPr/>
          <a:lstStyle/>
          <a:p>
            <a:endParaRPr lang="en-IN"/>
          </a:p>
        </p:txBody>
      </p:sp>
      <p:sp>
        <p:nvSpPr>
          <p:cNvPr id="13" name="Text 11"/>
          <p:cNvSpPr/>
          <p:nvPr/>
        </p:nvSpPr>
        <p:spPr>
          <a:xfrm>
            <a:off x="1041400" y="3276600"/>
            <a:ext cx="1041247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&lt;table border="1" style="width:50%"&gt;</a:t>
            </a:r>
            <a:endParaRPr lang="en-US" sz="1200" dirty="0"/>
          </a:p>
        </p:txBody>
      </p:sp>
      <p:sp>
        <p:nvSpPr>
          <p:cNvPr id="14" name="Text 12"/>
          <p:cNvSpPr/>
          <p:nvPr/>
        </p:nvSpPr>
        <p:spPr>
          <a:xfrm>
            <a:off x="1041400" y="3505200"/>
            <a:ext cx="1041247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&lt;tr&gt;&lt;th&gt;Name&lt;/th&gt;&lt;th&gt;Subject&lt;/th&gt;&lt;/tr&gt;</a:t>
            </a:r>
            <a:endParaRPr lang="en-US" sz="1200" dirty="0"/>
          </a:p>
        </p:txBody>
      </p:sp>
      <p:sp>
        <p:nvSpPr>
          <p:cNvPr id="15" name="Text 13"/>
          <p:cNvSpPr/>
          <p:nvPr/>
        </p:nvSpPr>
        <p:spPr>
          <a:xfrm>
            <a:off x="1041400" y="3733800"/>
            <a:ext cx="1041247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&lt;tr&gt;&lt;td rowspan="2"&gt;SYBCA&lt;/td&gt;&lt;td&gt;HTML&lt;/td&gt;&lt;/tr&gt;</a:t>
            </a:r>
            <a:endParaRPr lang="en-US" sz="1200" dirty="0"/>
          </a:p>
        </p:txBody>
      </p:sp>
      <p:sp>
        <p:nvSpPr>
          <p:cNvPr id="16" name="Text 14"/>
          <p:cNvSpPr/>
          <p:nvPr/>
        </p:nvSpPr>
        <p:spPr>
          <a:xfrm>
            <a:off x="1041400" y="3962400"/>
            <a:ext cx="1041247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&lt;tr&gt;&lt;td&gt;CSS&lt;/td&gt;&lt;/tr&gt;</a:t>
            </a:r>
            <a:endParaRPr lang="en-US" sz="1200" dirty="0"/>
          </a:p>
        </p:txBody>
      </p:sp>
      <p:sp>
        <p:nvSpPr>
          <p:cNvPr id="17" name="Text 15"/>
          <p:cNvSpPr/>
          <p:nvPr/>
        </p:nvSpPr>
        <p:spPr>
          <a:xfrm>
            <a:off x="1041400" y="4191000"/>
            <a:ext cx="10412476"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&lt;/table&gt;</a:t>
            </a:r>
            <a:endParaRPr lang="en-US" sz="1200" dirty="0"/>
          </a:p>
        </p:txBody>
      </p:sp>
      <p:sp>
        <p:nvSpPr>
          <p:cNvPr id="18" name="Text 16"/>
          <p:cNvSpPr/>
          <p:nvPr/>
        </p:nvSpPr>
        <p:spPr>
          <a:xfrm>
            <a:off x="812800" y="47752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Syllabus Unit IV topic: editing table layouts.</a:t>
            </a:r>
            <a:endParaRPr lang="en-US" sz="1400" dirty="0"/>
          </a:p>
        </p:txBody>
      </p:sp>
      <p:sp>
        <p:nvSpPr>
          <p:cNvPr id="19" name="Text 17"/>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09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280416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4 · STYLING A TABLE</a:t>
            </a:r>
            <a:endParaRPr lang="en-US" sz="1200" dirty="0"/>
          </a:p>
        </p:txBody>
      </p:sp>
      <p:sp>
        <p:nvSpPr>
          <p:cNvPr id="3" name="Text 1"/>
          <p:cNvSpPr>
            <a:spLocks noGrp="1"/>
          </p:cNvSpPr>
          <p:nvPr>
            <p:ph type="title"/>
          </p:nvPr>
        </p:nvSpPr>
        <p:spPr>
          <a:xfrm>
            <a:off x="812800" y="1153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Why do we style a table?</a:t>
            </a:r>
            <a:endParaRPr lang="en-US" sz="3200" dirty="0"/>
          </a:p>
        </p:txBody>
      </p:sp>
      <p:sp>
        <p:nvSpPr>
          <p:cNvPr id="4" name="Shape 2"/>
          <p:cNvSpPr/>
          <p:nvPr/>
        </p:nvSpPr>
        <p:spPr>
          <a:xfrm>
            <a:off x="812800" y="1778000"/>
            <a:ext cx="5181600" cy="1391920"/>
          </a:xfrm>
          <a:prstGeom prst="roundRect">
            <a:avLst>
              <a:gd name="adj" fmla="val 7299"/>
            </a:avLst>
          </a:prstGeom>
          <a:solidFill>
            <a:srgbClr val="FBFCFE"/>
          </a:solidFill>
          <a:ln/>
        </p:spPr>
        <p:txBody>
          <a:bodyPr/>
          <a:lstStyle/>
          <a:p>
            <a:endParaRPr lang="en-IN"/>
          </a:p>
        </p:txBody>
      </p:sp>
      <p:sp>
        <p:nvSpPr>
          <p:cNvPr id="5" name="Shape 3"/>
          <p:cNvSpPr/>
          <p:nvPr/>
        </p:nvSpPr>
        <p:spPr>
          <a:xfrm>
            <a:off x="812800" y="1778000"/>
            <a:ext cx="5181600" cy="1391920"/>
          </a:xfrm>
          <a:custGeom>
            <a:avLst/>
            <a:gdLst/>
            <a:ahLst/>
            <a:cxnLst/>
            <a:rect l="l" t="t" r="r" b="b"/>
            <a:pathLst>
              <a:path w="5181600" h="1391920">
                <a:moveTo>
                  <a:pt x="101600" y="1391920"/>
                </a:moveTo>
                <a:lnTo>
                  <a:pt x="101600" y="1391920"/>
                </a:lnTo>
                <a:arcTo wR="101600" hR="101600" stAng="5400000" swAng="5400000"/>
                <a:lnTo>
                  <a:pt x="0" y="101600"/>
                </a:lnTo>
                <a:arcTo wR="101600" hR="101600" stAng="10800000" swAng="5400000"/>
                <a:lnTo>
                  <a:pt x="101600" y="0"/>
                </a:lnTo>
                <a:arcTo wR="50800" hR="101600" stAng="16200000" swAng="-5400000"/>
                <a:lnTo>
                  <a:pt x="50800" y="1290320"/>
                </a:lnTo>
                <a:arcTo wR="50800" hR="101600" stAng="10800000" swAng="-5400000"/>
                <a:close/>
              </a:path>
            </a:pathLst>
          </a:custGeom>
          <a:solidFill>
            <a:srgbClr val="0B6FA8"/>
          </a:solidFill>
          <a:ln/>
        </p:spPr>
        <p:txBody>
          <a:bodyPr/>
          <a:lstStyle/>
          <a:p>
            <a:endParaRPr lang="en-IN"/>
          </a:p>
        </p:txBody>
      </p:sp>
      <p:sp>
        <p:nvSpPr>
          <p:cNvPr id="6" name="Text 4"/>
          <p:cNvSpPr/>
          <p:nvPr/>
        </p:nvSpPr>
        <p:spPr>
          <a:xfrm>
            <a:off x="1066800" y="19558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SYLLABUS OBJECTIVE</a:t>
            </a:r>
            <a:endParaRPr lang="en-US" sz="1200" dirty="0"/>
          </a:p>
        </p:txBody>
      </p:sp>
      <p:sp>
        <p:nvSpPr>
          <p:cNvPr id="7" name="Text 5"/>
          <p:cNvSpPr/>
          <p:nvPr/>
        </p:nvSpPr>
        <p:spPr>
          <a:xfrm>
            <a:off x="1066800" y="2245364"/>
            <a:ext cx="48661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Style your page using CSS.</a:t>
            </a:r>
            <a:endParaRPr lang="en-US" sz="1400" dirty="0"/>
          </a:p>
        </p:txBody>
      </p:sp>
      <p:sp>
        <p:nvSpPr>
          <p:cNvPr id="8" name="Shape 6"/>
          <p:cNvSpPr/>
          <p:nvPr/>
        </p:nvSpPr>
        <p:spPr>
          <a:xfrm>
            <a:off x="6197600" y="1778000"/>
            <a:ext cx="5181600" cy="1391920"/>
          </a:xfrm>
          <a:prstGeom prst="roundRect">
            <a:avLst>
              <a:gd name="adj" fmla="val 7299"/>
            </a:avLst>
          </a:prstGeom>
          <a:solidFill>
            <a:srgbClr val="FBFCFE"/>
          </a:solidFill>
          <a:ln/>
        </p:spPr>
        <p:txBody>
          <a:bodyPr/>
          <a:lstStyle/>
          <a:p>
            <a:endParaRPr lang="en-IN"/>
          </a:p>
        </p:txBody>
      </p:sp>
      <p:sp>
        <p:nvSpPr>
          <p:cNvPr id="9" name="Shape 7"/>
          <p:cNvSpPr/>
          <p:nvPr/>
        </p:nvSpPr>
        <p:spPr>
          <a:xfrm>
            <a:off x="6197600" y="1778000"/>
            <a:ext cx="5181600" cy="1391920"/>
          </a:xfrm>
          <a:custGeom>
            <a:avLst/>
            <a:gdLst/>
            <a:ahLst/>
            <a:cxnLst/>
            <a:rect l="l" t="t" r="r" b="b"/>
            <a:pathLst>
              <a:path w="5181600" h="1391920">
                <a:moveTo>
                  <a:pt x="101600" y="1391920"/>
                </a:moveTo>
                <a:lnTo>
                  <a:pt x="101600" y="1391920"/>
                </a:lnTo>
                <a:arcTo wR="101600" hR="101600" stAng="5400000" swAng="5400000"/>
                <a:lnTo>
                  <a:pt x="0" y="101600"/>
                </a:lnTo>
                <a:arcTo wR="101600" hR="101600" stAng="10800000" swAng="5400000"/>
                <a:lnTo>
                  <a:pt x="101600" y="0"/>
                </a:lnTo>
                <a:arcTo wR="50800" hR="101600" stAng="16200000" swAng="-5400000"/>
                <a:lnTo>
                  <a:pt x="50800" y="1290320"/>
                </a:lnTo>
                <a:arcTo wR="50800" hR="101600" stAng="10800000" swAng="-5400000"/>
                <a:close/>
              </a:path>
            </a:pathLst>
          </a:custGeom>
          <a:solidFill>
            <a:srgbClr val="B7791F"/>
          </a:solidFill>
          <a:ln/>
        </p:spPr>
        <p:txBody>
          <a:bodyPr/>
          <a:lstStyle/>
          <a:p>
            <a:endParaRPr lang="en-IN"/>
          </a:p>
        </p:txBody>
      </p:sp>
      <p:sp>
        <p:nvSpPr>
          <p:cNvPr id="10" name="Text 8"/>
          <p:cNvSpPr/>
          <p:nvPr/>
        </p:nvSpPr>
        <p:spPr>
          <a:xfrm>
            <a:off x="6451600" y="1955800"/>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7791F"/>
                </a:solidFill>
                <a:latin typeface="JetBrains Mono" pitchFamily="49" charset="0"/>
                <a:ea typeface="JetBrains Mono" pitchFamily="49" charset="-122"/>
                <a:cs typeface="JetBrains Mono" pitchFamily="49" charset="-120"/>
              </a:rPr>
              <a:t>WHAT CSS CONTROLS (NOTES)</a:t>
            </a:r>
            <a:endParaRPr lang="en-US" sz="1200" dirty="0"/>
          </a:p>
        </p:txBody>
      </p:sp>
      <p:sp>
        <p:nvSpPr>
          <p:cNvPr id="11" name="Text 9"/>
          <p:cNvSpPr/>
          <p:nvPr/>
        </p:nvSpPr>
        <p:spPr>
          <a:xfrm>
            <a:off x="6451600" y="2245364"/>
            <a:ext cx="486613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Properties define what aspect of an element you wish to change. Examples include color, font-size, margin or background-color.</a:t>
            </a:r>
            <a:endParaRPr lang="en-US" sz="1400" dirty="0"/>
          </a:p>
        </p:txBody>
      </p:sp>
      <p:sp>
        <p:nvSpPr>
          <p:cNvPr id="12" name="Shape 10"/>
          <p:cNvSpPr/>
          <p:nvPr/>
        </p:nvSpPr>
        <p:spPr>
          <a:xfrm>
            <a:off x="812800" y="3347721"/>
            <a:ext cx="5181600" cy="1143000"/>
          </a:xfrm>
          <a:prstGeom prst="roundRect">
            <a:avLst>
              <a:gd name="adj" fmla="val 8889"/>
            </a:avLst>
          </a:prstGeom>
          <a:solidFill>
            <a:srgbClr val="FBFCFE"/>
          </a:solidFill>
          <a:ln/>
        </p:spPr>
        <p:txBody>
          <a:bodyPr/>
          <a:lstStyle/>
          <a:p>
            <a:endParaRPr lang="en-IN"/>
          </a:p>
        </p:txBody>
      </p:sp>
      <p:sp>
        <p:nvSpPr>
          <p:cNvPr id="13" name="Shape 11"/>
          <p:cNvSpPr/>
          <p:nvPr/>
        </p:nvSpPr>
        <p:spPr>
          <a:xfrm>
            <a:off x="812800" y="3347721"/>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0B6FA8"/>
          </a:solidFill>
          <a:ln/>
        </p:spPr>
        <p:txBody>
          <a:bodyPr/>
          <a:lstStyle/>
          <a:p>
            <a:endParaRPr lang="en-IN"/>
          </a:p>
        </p:txBody>
      </p:sp>
      <p:sp>
        <p:nvSpPr>
          <p:cNvPr id="14" name="Text 12"/>
          <p:cNvSpPr/>
          <p:nvPr/>
        </p:nvSpPr>
        <p:spPr>
          <a:xfrm>
            <a:off x="1066800" y="3525521"/>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BORDER</a:t>
            </a:r>
            <a:endParaRPr lang="en-US" sz="1200" dirty="0"/>
          </a:p>
        </p:txBody>
      </p:sp>
      <p:sp>
        <p:nvSpPr>
          <p:cNvPr id="15" name="Text 13"/>
          <p:cNvSpPr/>
          <p:nvPr/>
        </p:nvSpPr>
        <p:spPr>
          <a:xfrm>
            <a:off x="1066800" y="3815079"/>
            <a:ext cx="4927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Specify the style, width and color of an element's border.</a:t>
            </a:r>
            <a:endParaRPr lang="en-US" sz="1400" dirty="0"/>
          </a:p>
        </p:txBody>
      </p:sp>
      <p:sp>
        <p:nvSpPr>
          <p:cNvPr id="16" name="Shape 14"/>
          <p:cNvSpPr/>
          <p:nvPr/>
        </p:nvSpPr>
        <p:spPr>
          <a:xfrm>
            <a:off x="6197600" y="3347721"/>
            <a:ext cx="5181600" cy="1143000"/>
          </a:xfrm>
          <a:prstGeom prst="roundRect">
            <a:avLst>
              <a:gd name="adj" fmla="val 8889"/>
            </a:avLst>
          </a:prstGeom>
          <a:solidFill>
            <a:srgbClr val="FBFCFE"/>
          </a:solidFill>
          <a:ln/>
        </p:spPr>
        <p:txBody>
          <a:bodyPr/>
          <a:lstStyle/>
          <a:p>
            <a:endParaRPr lang="en-IN"/>
          </a:p>
        </p:txBody>
      </p:sp>
      <p:sp>
        <p:nvSpPr>
          <p:cNvPr id="17" name="Shape 15"/>
          <p:cNvSpPr/>
          <p:nvPr/>
        </p:nvSpPr>
        <p:spPr>
          <a:xfrm>
            <a:off x="6197600" y="3347721"/>
            <a:ext cx="5181600" cy="1143000"/>
          </a:xfrm>
          <a:custGeom>
            <a:avLst/>
            <a:gdLst/>
            <a:ahLst/>
            <a:cxnLst/>
            <a:rect l="l" t="t" r="r" b="b"/>
            <a:pathLst>
              <a:path w="5181600" h="1143000">
                <a:moveTo>
                  <a:pt x="101600" y="1143000"/>
                </a:moveTo>
                <a:lnTo>
                  <a:pt x="101600" y="1143000"/>
                </a:lnTo>
                <a:arcTo wR="101600" hR="101600" stAng="5400000" swAng="5400000"/>
                <a:lnTo>
                  <a:pt x="0" y="101600"/>
                </a:lnTo>
                <a:arcTo wR="101600" hR="101600" stAng="10800000" swAng="5400000"/>
                <a:lnTo>
                  <a:pt x="101600" y="0"/>
                </a:lnTo>
                <a:arcTo wR="50800" hR="101600" stAng="16200000" swAng="-5400000"/>
                <a:lnTo>
                  <a:pt x="50800" y="1041400"/>
                </a:lnTo>
                <a:arcTo wR="50800" hR="101600" stAng="10800000" swAng="-5400000"/>
                <a:close/>
              </a:path>
            </a:pathLst>
          </a:custGeom>
          <a:solidFill>
            <a:srgbClr val="B7791F"/>
          </a:solidFill>
          <a:ln/>
        </p:spPr>
        <p:txBody>
          <a:bodyPr/>
          <a:lstStyle/>
          <a:p>
            <a:endParaRPr lang="en-IN"/>
          </a:p>
        </p:txBody>
      </p:sp>
      <p:sp>
        <p:nvSpPr>
          <p:cNvPr id="18" name="Text 16"/>
          <p:cNvSpPr/>
          <p:nvPr/>
        </p:nvSpPr>
        <p:spPr>
          <a:xfrm>
            <a:off x="6451600" y="3525521"/>
            <a:ext cx="4866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7791F"/>
                </a:solidFill>
                <a:latin typeface="JetBrains Mono" pitchFamily="49" charset="0"/>
                <a:ea typeface="JetBrains Mono" pitchFamily="49" charset="-122"/>
                <a:cs typeface="JetBrains Mono" pitchFamily="49" charset="-120"/>
              </a:rPr>
              <a:t>MARGIN</a:t>
            </a:r>
            <a:endParaRPr lang="en-US" sz="1200" dirty="0"/>
          </a:p>
        </p:txBody>
      </p:sp>
      <p:sp>
        <p:nvSpPr>
          <p:cNvPr id="19" name="Text 17"/>
          <p:cNvSpPr/>
          <p:nvPr/>
        </p:nvSpPr>
        <p:spPr>
          <a:xfrm>
            <a:off x="6451600" y="3815079"/>
            <a:ext cx="48661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Space outside an element, separating it from other elements.</a:t>
            </a:r>
            <a:endParaRPr lang="en-US" sz="1400" dirty="0"/>
          </a:p>
        </p:txBody>
      </p:sp>
      <p:sp>
        <p:nvSpPr>
          <p:cNvPr id="20" name="Text 18"/>
          <p:cNvSpPr/>
          <p:nvPr/>
        </p:nvSpPr>
        <p:spPr>
          <a:xfrm>
            <a:off x="812800" y="4668521"/>
            <a:ext cx="10566400" cy="502920"/>
          </a:xfrm>
          <a:prstGeom prst="roundRect">
            <a:avLst>
              <a:gd name="adj" fmla="val 15152"/>
            </a:avLst>
          </a:prstGeom>
          <a:solidFill>
            <a:srgbClr val="FBFCFE"/>
          </a:solidFill>
          <a:ln/>
        </p:spPr>
        <p:txBody>
          <a:bodyPr wrap="square" lIns="206282" tIns="104682" rIns="0" bIns="79282"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A plain table only has HTML tags. CSS adds borders, colors and spacing to it.</a:t>
            </a:r>
            <a:endParaRPr lang="en-US" sz="1400" dirty="0"/>
          </a:p>
        </p:txBody>
      </p:sp>
      <p:sp>
        <p:nvSpPr>
          <p:cNvPr id="21" name="Shape 19"/>
          <p:cNvSpPr/>
          <p:nvPr/>
        </p:nvSpPr>
        <p:spPr>
          <a:xfrm>
            <a:off x="812800" y="4668521"/>
            <a:ext cx="10566400" cy="502920"/>
          </a:xfrm>
          <a:custGeom>
            <a:avLst/>
            <a:gdLst/>
            <a:ahLst/>
            <a:cxnLst/>
            <a:rect l="l" t="t" r="r" b="b"/>
            <a:pathLst>
              <a:path w="10566400" h="502920">
                <a:moveTo>
                  <a:pt x="76200" y="502920"/>
                </a:moveTo>
                <a:lnTo>
                  <a:pt x="76200" y="502920"/>
                </a:lnTo>
                <a:arcTo wR="76200" hR="76200" stAng="5400000" swAng="5400000"/>
                <a:lnTo>
                  <a:pt x="0" y="76200"/>
                </a:lnTo>
                <a:arcTo wR="76200" hR="76200" stAng="10800000" swAng="5400000"/>
                <a:lnTo>
                  <a:pt x="76200" y="0"/>
                </a:lnTo>
                <a:arcTo wR="25400" hR="76200" stAng="16200000" swAng="-5400000"/>
                <a:lnTo>
                  <a:pt x="50800" y="426720"/>
                </a:lnTo>
                <a:arcTo wR="25400" hR="76200" stAng="10800000" swAng="-5400000"/>
                <a:close/>
              </a:path>
            </a:pathLst>
          </a:custGeom>
          <a:solidFill>
            <a:srgbClr val="FBBF24"/>
          </a:solidFill>
          <a:ln/>
        </p:spPr>
        <p:txBody>
          <a:bodyPr/>
          <a:lstStyle/>
          <a:p>
            <a:endParaRPr lang="en-IN"/>
          </a:p>
        </p:txBody>
      </p:sp>
      <p:sp>
        <p:nvSpPr>
          <p:cNvPr id="22" name="Text 20"/>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711200"/>
            <a:ext cx="3533140" cy="314960"/>
          </a:xfrm>
          <a:prstGeom prst="roundRect">
            <a:avLst>
              <a:gd name="adj" fmla="val 50000"/>
            </a:avLst>
          </a:prstGeom>
          <a:solidFill>
            <a:srgbClr val="0B6FA8"/>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JetBrains Mono" pitchFamily="49" charset="0"/>
                <a:ea typeface="JetBrains Mono" pitchFamily="49" charset="-122"/>
                <a:cs typeface="JetBrains Mono" pitchFamily="49" charset="-120"/>
              </a:rPr>
              <a:t>PART 4 · ADDING STYLE USING CSS</a:t>
            </a:r>
            <a:endParaRPr lang="en-US" sz="1200" dirty="0"/>
          </a:p>
        </p:txBody>
      </p:sp>
      <p:sp>
        <p:nvSpPr>
          <p:cNvPr id="3" name="Text 1"/>
          <p:cNvSpPr>
            <a:spLocks noGrp="1"/>
          </p:cNvSpPr>
          <p:nvPr>
            <p:ph type="title"/>
          </p:nvPr>
        </p:nvSpPr>
        <p:spPr>
          <a:xfrm>
            <a:off x="812800" y="1153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525"/>
                </a:solidFill>
                <a:latin typeface="JetBrains Mono" pitchFamily="49" charset="0"/>
                <a:ea typeface="JetBrains Mono" pitchFamily="49" charset="-122"/>
                <a:cs typeface="JetBrains Mono" pitchFamily="49" charset="-120"/>
              </a:rPr>
              <a:t>How to style a table</a:t>
            </a:r>
            <a:endParaRPr lang="en-US" sz="3200" dirty="0"/>
          </a:p>
        </p:txBody>
      </p:sp>
      <p:sp>
        <p:nvSpPr>
          <p:cNvPr id="4" name="Text 2"/>
          <p:cNvSpPr/>
          <p:nvPr/>
        </p:nvSpPr>
        <p:spPr>
          <a:xfrm>
            <a:off x="812800" y="1752600"/>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INTERNAL CSS (FROM NOTES)</a:t>
            </a:r>
            <a:endParaRPr lang="en-US" sz="1200" dirty="0"/>
          </a:p>
        </p:txBody>
      </p:sp>
      <p:sp>
        <p:nvSpPr>
          <p:cNvPr id="5" name="Shape 3"/>
          <p:cNvSpPr/>
          <p:nvPr/>
        </p:nvSpPr>
        <p:spPr>
          <a:xfrm>
            <a:off x="812800" y="2067564"/>
            <a:ext cx="5156200" cy="2241550"/>
          </a:xfrm>
          <a:prstGeom prst="roundRect">
            <a:avLst>
              <a:gd name="adj" fmla="val 4533"/>
            </a:avLst>
          </a:prstGeom>
          <a:solidFill>
            <a:srgbClr val="0E1525"/>
          </a:solidFill>
          <a:ln/>
        </p:spPr>
        <p:txBody>
          <a:bodyPr/>
          <a:lstStyle/>
          <a:p>
            <a:endParaRPr lang="en-IN"/>
          </a:p>
        </p:txBody>
      </p:sp>
      <p:sp>
        <p:nvSpPr>
          <p:cNvPr id="6" name="Text 4"/>
          <p:cNvSpPr/>
          <p:nvPr/>
        </p:nvSpPr>
        <p:spPr>
          <a:xfrm>
            <a:off x="1041400" y="224536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&lt;style&gt;</a:t>
            </a:r>
            <a:endParaRPr lang="en-US" sz="1100" dirty="0"/>
          </a:p>
        </p:txBody>
      </p:sp>
      <p:sp>
        <p:nvSpPr>
          <p:cNvPr id="7" name="Text 5"/>
          <p:cNvSpPr/>
          <p:nvPr/>
        </p:nvSpPr>
        <p:spPr>
          <a:xfrm>
            <a:off x="1041400" y="245491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body {</a:t>
            </a:r>
            <a:endParaRPr lang="en-US" sz="1100" dirty="0"/>
          </a:p>
        </p:txBody>
      </p:sp>
      <p:sp>
        <p:nvSpPr>
          <p:cNvPr id="8" name="Text 6"/>
          <p:cNvSpPr/>
          <p:nvPr/>
        </p:nvSpPr>
        <p:spPr>
          <a:xfrm>
            <a:off x="1041400" y="266446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background-color: lightgray;</a:t>
            </a:r>
            <a:endParaRPr lang="en-US" sz="1100" dirty="0"/>
          </a:p>
        </p:txBody>
      </p:sp>
      <p:sp>
        <p:nvSpPr>
          <p:cNvPr id="9" name="Text 7"/>
          <p:cNvSpPr/>
          <p:nvPr/>
        </p:nvSpPr>
        <p:spPr>
          <a:xfrm>
            <a:off x="1041400" y="287401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a:t>
            </a:r>
            <a:endParaRPr lang="en-US" sz="1100" dirty="0"/>
          </a:p>
        </p:txBody>
      </p:sp>
      <p:sp>
        <p:nvSpPr>
          <p:cNvPr id="10" name="Text 8"/>
          <p:cNvSpPr/>
          <p:nvPr/>
        </p:nvSpPr>
        <p:spPr>
          <a:xfrm>
            <a:off x="1041400" y="308356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h1 {</a:t>
            </a:r>
            <a:endParaRPr lang="en-US" sz="1100" dirty="0"/>
          </a:p>
        </p:txBody>
      </p:sp>
      <p:sp>
        <p:nvSpPr>
          <p:cNvPr id="11" name="Text 9"/>
          <p:cNvSpPr/>
          <p:nvPr/>
        </p:nvSpPr>
        <p:spPr>
          <a:xfrm>
            <a:off x="1041400" y="329311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color: green;</a:t>
            </a:r>
            <a:endParaRPr lang="en-US" sz="1100" dirty="0"/>
          </a:p>
        </p:txBody>
      </p:sp>
      <p:sp>
        <p:nvSpPr>
          <p:cNvPr id="12" name="Text 10"/>
          <p:cNvSpPr/>
          <p:nvPr/>
        </p:nvSpPr>
        <p:spPr>
          <a:xfrm>
            <a:off x="1041400" y="350266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font-size: 24px;</a:t>
            </a:r>
            <a:endParaRPr lang="en-US" sz="1100" dirty="0"/>
          </a:p>
        </p:txBody>
      </p:sp>
      <p:sp>
        <p:nvSpPr>
          <p:cNvPr id="13" name="Text 11"/>
          <p:cNvSpPr/>
          <p:nvPr/>
        </p:nvSpPr>
        <p:spPr>
          <a:xfrm>
            <a:off x="1041400" y="371221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a:t>
            </a:r>
            <a:endParaRPr lang="en-US" sz="1100" dirty="0"/>
          </a:p>
        </p:txBody>
      </p:sp>
      <p:sp>
        <p:nvSpPr>
          <p:cNvPr id="14" name="Text 12"/>
          <p:cNvSpPr/>
          <p:nvPr/>
        </p:nvSpPr>
        <p:spPr>
          <a:xfrm>
            <a:off x="1041400" y="3921764"/>
            <a:ext cx="4839970" cy="2349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E8EDF5"/>
                </a:solidFill>
                <a:latin typeface="JetBrains Mono" pitchFamily="49" charset="0"/>
                <a:ea typeface="JetBrains Mono" pitchFamily="49" charset="-122"/>
                <a:cs typeface="JetBrains Mono" pitchFamily="49" charset="-120"/>
              </a:rPr>
              <a:t>&lt;/style&gt;</a:t>
            </a:r>
            <a:endParaRPr lang="en-US" sz="1100" dirty="0"/>
          </a:p>
        </p:txBody>
      </p:sp>
      <p:sp>
        <p:nvSpPr>
          <p:cNvPr id="15" name="Text 13"/>
          <p:cNvSpPr/>
          <p:nvPr/>
        </p:nvSpPr>
        <p:spPr>
          <a:xfrm>
            <a:off x="812800" y="4410714"/>
            <a:ext cx="53108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1525"/>
                </a:solidFill>
                <a:latin typeface="DM Sans" pitchFamily="34" charset="0"/>
                <a:ea typeface="DM Sans" pitchFamily="34" charset="-122"/>
                <a:cs typeface="DM Sans" pitchFamily="34" charset="-120"/>
              </a:rPr>
              <a:t>Same pattern: write a selector, then properties in { }.</a:t>
            </a:r>
            <a:endParaRPr lang="en-US" sz="1300" dirty="0"/>
          </a:p>
        </p:txBody>
      </p:sp>
      <p:sp>
        <p:nvSpPr>
          <p:cNvPr id="16" name="Text 14"/>
          <p:cNvSpPr/>
          <p:nvPr/>
        </p:nvSpPr>
        <p:spPr>
          <a:xfrm>
            <a:off x="6223000" y="1752600"/>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BORDER SHORTHAND (NOTES)</a:t>
            </a:r>
            <a:endParaRPr lang="en-US" sz="1200" dirty="0"/>
          </a:p>
        </p:txBody>
      </p:sp>
      <p:sp>
        <p:nvSpPr>
          <p:cNvPr id="17" name="Text 15"/>
          <p:cNvSpPr/>
          <p:nvPr/>
        </p:nvSpPr>
        <p:spPr>
          <a:xfrm>
            <a:off x="6223000" y="2067564"/>
            <a:ext cx="5156200" cy="584200"/>
          </a:xfrm>
          <a:prstGeom prst="roundRect">
            <a:avLst>
              <a:gd name="adj" fmla="val 17391"/>
            </a:avLst>
          </a:prstGeom>
          <a:solidFill>
            <a:srgbClr val="0E1525"/>
          </a:solidFill>
          <a:ln/>
        </p:spPr>
        <p:txBody>
          <a:bodyPr wrap="square" lIns="198842" tIns="148042" rIns="57872" bIns="122642" rtlCol="0" anchor="t">
            <a:normAutofit/>
          </a:bodyPr>
          <a:lstStyle/>
          <a:p>
            <a:pPr marL="0" indent="0" algn="l">
              <a:lnSpc>
                <a:spcPts val="1800"/>
              </a:lnSpc>
              <a:buNone/>
            </a:pPr>
            <a:r>
              <a:rPr lang="en-US" sz="1200" dirty="0">
                <a:solidFill>
                  <a:srgbClr val="E8EDF5"/>
                </a:solidFill>
                <a:latin typeface="JetBrains Mono" pitchFamily="49" charset="0"/>
                <a:ea typeface="JetBrains Mono" pitchFamily="49" charset="-122"/>
                <a:cs typeface="JetBrains Mono" pitchFamily="49" charset="-120"/>
              </a:rPr>
              <a:t>border: 5px solid red;</a:t>
            </a:r>
            <a:endParaRPr lang="en-US" sz="1200" dirty="0"/>
          </a:p>
        </p:txBody>
      </p:sp>
      <p:sp>
        <p:nvSpPr>
          <p:cNvPr id="18" name="Text 16"/>
          <p:cNvSpPr/>
          <p:nvPr/>
        </p:nvSpPr>
        <p:spPr>
          <a:xfrm>
            <a:off x="6223000" y="2753364"/>
            <a:ext cx="53108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FA8"/>
                </a:solidFill>
                <a:latin typeface="JetBrains Mono" pitchFamily="49" charset="0"/>
                <a:ea typeface="JetBrains Mono" pitchFamily="49" charset="-122"/>
                <a:cs typeface="JetBrains Mono" pitchFamily="49" charset="-120"/>
              </a:rPr>
              <a:t>THREE WAYS TO ADD CSS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33160" y="3078481"/>
          <a:ext cx="5146040" cy="1427480"/>
        </p:xfrm>
        <a:graphic>
          <a:graphicData uri="http://schemas.openxmlformats.org/drawingml/2006/table">
            <a:tbl>
              <a:tblPr/>
              <a:tblGrid>
                <a:gridCol w="1801114">
                  <a:extLst>
                    <a:ext uri="{9D8B030D-6E8A-4147-A177-3AD203B41FA5}">
                      <a16:colId xmlns:a16="http://schemas.microsoft.com/office/drawing/2014/main" val="20000"/>
                    </a:ext>
                  </a:extLst>
                </a:gridCol>
                <a:gridCol w="3344926">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FFFFF"/>
                          </a:solidFill>
                          <a:latin typeface="DM Sans" pitchFamily="34" charset="0"/>
                          <a:ea typeface="DM Sans" pitchFamily="34" charset="-122"/>
                          <a:cs typeface="DM Sans" pitchFamily="34" charset="-120"/>
                        </a:rPr>
                        <a:t>Type</a:t>
                      </a:r>
                      <a:endParaRPr lang="en-US" sz="1300" dirty="0">
                        <a:latin typeface="DM Sans" charset="0"/>
                        <a:ea typeface="DM Sans" charset="0"/>
                        <a:cs typeface="DM Sans" charset="0"/>
                      </a:endParaRPr>
                    </a:p>
                  </a:txBody>
                  <a:tcPr marL="57785" marR="57785" marT="57785" marB="57785">
                    <a:lnL w="12700" cap="flat" cmpd="sng" algn="ctr">
                      <a:solidFill>
                        <a:srgbClr val="C2C4C6"/>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tc>
                  <a:txBody>
                    <a:bodyPr/>
                    <a:lstStyle/>
                    <a:p>
                      <a:pPr marL="0" indent="0">
                        <a:lnSpc>
                          <a:spcPts val="1820"/>
                        </a:lnSpc>
                        <a:buNone/>
                      </a:pPr>
                      <a:r>
                        <a:rPr lang="en-US" sz="1300" b="1" dirty="0">
                          <a:solidFill>
                            <a:srgbClr val="FFFFFF"/>
                          </a:solidFill>
                          <a:latin typeface="DM Sans" pitchFamily="34" charset="0"/>
                          <a:ea typeface="DM Sans" pitchFamily="34" charset="-122"/>
                          <a:cs typeface="DM Sans" pitchFamily="34" charset="-120"/>
                        </a:rPr>
                        <a:t>Where</a:t>
                      </a:r>
                      <a:endParaRPr lang="en-US" sz="1300" dirty="0">
                        <a:latin typeface="DM Sans" charset="0"/>
                        <a:ea typeface="DM Sans" charset="0"/>
                        <a:cs typeface="DM Sans" charset="0"/>
                      </a:endParaRPr>
                    </a:p>
                  </a:txBody>
                  <a:tcPr marL="57785" marR="57785" marT="57785" marB="57785">
                    <a:lnL w="12700" cap="flat" cmpd="sng" algn="ctr">
                      <a:solidFill>
                        <a:srgbClr val="0D5B87"/>
                      </a:solidFill>
                      <a:prstDash val="solid"/>
                      <a:round/>
                      <a:headEnd type="none" w="med" len="med"/>
                      <a:tailEnd type="none" w="med" len="med"/>
                    </a:lnL>
                    <a:lnR w="12700" cap="flat" cmpd="sng" algn="ctr">
                      <a:solidFill>
                        <a:srgbClr val="0D5B87"/>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0D5B87"/>
                      </a:solidFill>
                      <a:prstDash val="solid"/>
                      <a:round/>
                      <a:headEnd type="none" w="med" len="med"/>
                      <a:tailEnd type="none" w="med" len="med"/>
                    </a:lnB>
                    <a:solidFill>
                      <a:srgbClr val="0B6FA8"/>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Inline</a:t>
                      </a:r>
                      <a:endParaRPr lang="en-US" sz="1300" dirty="0">
                        <a:latin typeface="DM Sans" charset="0"/>
                        <a:ea typeface="DM Sans" charset="0"/>
                        <a:cs typeface="DM Sans" charset="0"/>
                      </a:endParaRPr>
                    </a:p>
                  </a:txBody>
                  <a:tcPr marL="57785" marR="57785" marT="57785" marB="57785">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Inside the tag</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0D5B87"/>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Internal</a:t>
                      </a:r>
                      <a:endParaRPr lang="en-US" sz="1300" dirty="0">
                        <a:latin typeface="DM Sans" charset="0"/>
                        <a:ea typeface="DM Sans" charset="0"/>
                        <a:cs typeface="DM Sans" charset="0"/>
                      </a:endParaRPr>
                    </a:p>
                  </a:txBody>
                  <a:tcPr marL="57785" marR="57785" marT="57785" marB="57785">
                    <a:lnL w="12700" cap="flat" cmpd="sng" algn="ctr">
                      <a:solidFill>
                        <a:srgbClr val="C2C4C6"/>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In a style tag</a:t>
                      </a:r>
                      <a:endParaRPr lang="en-US" sz="1300" dirty="0">
                        <a:latin typeface="DM Sans" charset="0"/>
                        <a:ea typeface="DM Sans" charset="0"/>
                        <a:cs typeface="DM Sans" charset="0"/>
                      </a:endParaRPr>
                    </a:p>
                  </a:txBody>
                  <a:tcPr marL="57785" marR="57785" marT="57785" marB="57785">
                    <a:lnL w="12700" cap="flat" cmpd="sng" algn="ctr">
                      <a:solidFill>
                        <a:srgbClr val="B8BDC4"/>
                      </a:solidFill>
                      <a:prstDash val="solid"/>
                      <a:round/>
                      <a:headEnd type="none" w="med" len="med"/>
                      <a:tailEnd type="none" w="med" len="med"/>
                    </a:lnL>
                    <a:lnR w="12700" cap="flat" cmpd="sng" algn="ctr">
                      <a:solidFill>
                        <a:srgbClr val="B8BDC4"/>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8BDC4"/>
                      </a:solidFill>
                      <a:prstDash val="solid"/>
                      <a:round/>
                      <a:headEnd type="none" w="med" len="med"/>
                      <a:tailEnd type="none" w="med" len="med"/>
                    </a:lnB>
                    <a:solidFill>
                      <a:srgbClr val="E6EDF6"/>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External</a:t>
                      </a:r>
                      <a:endParaRPr lang="en-US" sz="1300" dirty="0">
                        <a:latin typeface="DM Sans" charset="0"/>
                        <a:ea typeface="DM Sans" charset="0"/>
                        <a:cs typeface="DM Sans" charset="0"/>
                      </a:endParaRPr>
                    </a:p>
                  </a:txBody>
                  <a:tcPr marL="57785" marR="57785" marT="57785" marB="57785">
                    <a:lnL w="12700" cap="flat" cmpd="sng" algn="ctr">
                      <a:solidFill>
                        <a:srgbClr val="C2C4C6"/>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marL="0" indent="0">
                        <a:lnSpc>
                          <a:spcPts val="1820"/>
                        </a:lnSpc>
                        <a:buNone/>
                      </a:pPr>
                      <a:r>
                        <a:rPr lang="en-US" sz="1300" dirty="0">
                          <a:solidFill>
                            <a:srgbClr val="0E1525"/>
                          </a:solidFill>
                          <a:latin typeface="DM Sans" pitchFamily="34" charset="0"/>
                          <a:ea typeface="DM Sans" pitchFamily="34" charset="-122"/>
                          <a:cs typeface="DM Sans" pitchFamily="34" charset="-120"/>
                        </a:rPr>
                        <a:t>Separate file</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8BDC4"/>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extLst>
                  <a:ext uri="{0D108BD9-81ED-4DB2-BD59-A6C34878D82A}">
                    <a16:rowId xmlns:a16="http://schemas.microsoft.com/office/drawing/2014/main" val="10003"/>
                  </a:ext>
                </a:extLst>
              </a:tr>
            </a:tbl>
          </a:graphicData>
        </a:graphic>
      </p:graphicFrame>
      <p:sp>
        <p:nvSpPr>
          <p:cNvPr id="20" name="Text 17"/>
          <p:cNvSpPr/>
          <p:nvPr/>
        </p:nvSpPr>
        <p:spPr>
          <a:xfrm>
            <a:off x="6223000" y="46075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1525"/>
                </a:solidFill>
                <a:latin typeface="DM Sans" pitchFamily="34" charset="0"/>
                <a:ea typeface="DM Sans" pitchFamily="34" charset="-122"/>
                <a:cs typeface="DM Sans" pitchFamily="34" charset="-120"/>
              </a:rPr>
              <a:t>border-style values: dotted, dashed, solid, double, none.</a:t>
            </a:r>
            <a:endParaRPr lang="en-US" sz="1300" dirty="0"/>
          </a:p>
        </p:txBody>
      </p:sp>
      <p:sp>
        <p:nvSpPr>
          <p:cNvPr id="21" name="Text 18"/>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5"/>
                </a:solidFill>
                <a:latin typeface="DM Sans" pitchFamily="34" charset="0"/>
                <a:ea typeface="DM Sans" pitchFamily="34" charset="-122"/>
                <a:cs typeface="DM Sans" pitchFamily="34" charset="-120"/>
              </a:rPr>
              <a:t>Designing Accessible Tables · Web Designing · Abdullah Shaikh · SY BCA</a:t>
            </a:r>
            <a:endParaRPr lang="en-US" sz="1200" dirty="0"/>
          </a:p>
        </p:txBody>
      </p:sp>
      <p:sp>
        <p:nvSpPr>
          <p:cNvPr id="22" name="Text 1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85"/>
                </a:solidFill>
                <a:latin typeface="JetBrains Mono" pitchFamily="49" charset="0"/>
                <a:ea typeface="JetBrains Mono" pitchFamily="49" charset="-122"/>
                <a:cs typeface="JetBrains Mono" pitchFamily="49"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8BD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E1525"/>
                </a:solidFill>
                <a:latin typeface="JetBrains Mono" pitchFamily="49" charset="0"/>
                <a:ea typeface="JetBrains Mono" pitchFamily="49" charset="-122"/>
                <a:cs typeface="JetBrains Mono" pitchFamily="49" charset="-120"/>
              </a:rPr>
              <a:t>SUMMARY</a:t>
            </a:r>
            <a:endParaRPr lang="en-US" sz="1200" dirty="0"/>
          </a:p>
        </p:txBody>
      </p:sp>
      <p:sp>
        <p:nvSpPr>
          <p:cNvPr id="3" name="Text 1"/>
          <p:cNvSpPr>
            <a:spLocks noGrp="1"/>
          </p:cNvSpPr>
          <p:nvPr>
            <p:ph type="title"/>
          </p:nvPr>
        </p:nvSpPr>
        <p:spPr>
          <a:xfrm>
            <a:off x="812800" y="25527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0E1525"/>
                </a:solidFill>
                <a:latin typeface="JetBrains Mono" pitchFamily="49" charset="0"/>
                <a:ea typeface="JetBrains Mono" pitchFamily="49" charset="-122"/>
                <a:cs typeface="JetBrains Mono" pitchFamily="49" charset="-120"/>
              </a:rPr>
              <a:t>Thank you</a:t>
            </a:r>
            <a:endParaRPr lang="en-US" sz="4000" dirty="0"/>
          </a:p>
        </p:txBody>
      </p:sp>
      <p:sp>
        <p:nvSpPr>
          <p:cNvPr id="4" name="Text 2"/>
          <p:cNvSpPr/>
          <p:nvPr/>
        </p:nvSpPr>
        <p:spPr>
          <a:xfrm>
            <a:off x="812800" y="3263900"/>
            <a:ext cx="91567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E1525"/>
                </a:solidFill>
                <a:latin typeface="DM Sans" pitchFamily="34" charset="0"/>
                <a:ea typeface="DM Sans" pitchFamily="34" charset="-122"/>
                <a:cs typeface="DM Sans" pitchFamily="34" charset="-120"/>
              </a:rPr>
              <a:t>Tables arrange data in rows and columns with table, tr, th and td. Attributes like border, width, rowspan and colspan set the layout. CSS adds the style.</a:t>
            </a:r>
            <a:endParaRPr lang="en-US" sz="1800" dirty="0"/>
          </a:p>
        </p:txBody>
      </p:sp>
      <p:sp>
        <p:nvSpPr>
          <p:cNvPr id="5" name="Text 3"/>
          <p:cNvSpPr/>
          <p:nvPr/>
        </p:nvSpPr>
        <p:spPr>
          <a:xfrm>
            <a:off x="812800" y="40563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1525"/>
                </a:solidFill>
                <a:latin typeface="DM Sans" pitchFamily="34" charset="0"/>
                <a:ea typeface="DM Sans" pitchFamily="34" charset="-122"/>
                <a:cs typeface="DM Sans" pitchFamily="34" charset="-120"/>
              </a:rPr>
              <a:t>Reference (syllabus): HTML and CSS, Jon Duckett, John Wiley, 2012</a:t>
            </a:r>
            <a:endParaRPr lang="en-US" sz="1400" dirty="0"/>
          </a:p>
        </p:txBody>
      </p:sp>
      <p:sp>
        <p:nvSpPr>
          <p:cNvPr id="6" name="Text 4"/>
          <p:cNvSpPr/>
          <p:nvPr/>
        </p:nvSpPr>
        <p:spPr>
          <a:xfrm>
            <a:off x="812800" y="5831842"/>
            <a:ext cx="73517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1525"/>
                </a:solidFill>
                <a:latin typeface="JetBrains Mono" pitchFamily="49" charset="0"/>
                <a:ea typeface="JetBrains Mono" pitchFamily="49" charset="-122"/>
                <a:cs typeface="JetBrains Mono" pitchFamily="49" charset="-120"/>
              </a:rPr>
              <a:t>Designing Accessible Tables · Abdullah Shaikh · SY BCA ·  Prathima </a:t>
            </a:r>
            <a:r>
              <a:rPr lang="en-US" sz="1200" dirty="0" err="1">
                <a:solidFill>
                  <a:srgbClr val="0E1525"/>
                </a:solidFill>
                <a:latin typeface="JetBrains Mono" pitchFamily="49" charset="0"/>
                <a:ea typeface="JetBrains Mono" pitchFamily="49" charset="-122"/>
                <a:cs typeface="JetBrains Mono" pitchFamily="49" charset="-120"/>
              </a:rPr>
              <a:t>Maam</a:t>
            </a:r>
            <a:endParaRPr lang="en-US" sz="1200" dirty="0"/>
          </a:p>
        </p:txBody>
      </p:sp>
      <p:sp>
        <p:nvSpPr>
          <p:cNvPr id="7" name="Text 5"/>
          <p:cNvSpPr/>
          <p:nvPr/>
        </p:nvSpPr>
        <p:spPr>
          <a:xfrm>
            <a:off x="10611104" y="58318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E1525"/>
                </a:solidFill>
                <a:latin typeface="JetBrains Mono" pitchFamily="49" charset="0"/>
                <a:ea typeface="JetBrains Mono" pitchFamily="49" charset="-122"/>
                <a:cs typeface="JetBrains Mono" pitchFamily="49" charset="-120"/>
              </a:rPr>
              <a:t>12 / 12</a:t>
            </a:r>
            <a:endParaRPr lang="en-US" sz="1200" dirty="0"/>
          </a:p>
        </p:txBody>
      </p:sp>
    </p:spTree>
  </p:cSld>
  <p:clrMapOvr>
    <a:masterClrMapping/>
  </p:clrMapOvr>
</p:sld>
</file>

<file path=ppt/theme/theme1.xml><?xml version="1.0" encoding="utf-8"?>
<a:theme xmlns:a="http://schemas.openxmlformats.org/drawingml/2006/main" name="Designing Accessible Tables">
  <a:themeElements>
    <a:clrScheme name="Designing Accessible Tables">
      <a:dk1>
        <a:srgbClr val="0E1525"/>
      </a:dk1>
      <a:lt1>
        <a:srgbClr val="F3F5F9"/>
      </a:lt1>
      <a:dk2>
        <a:srgbClr val="474D5A"/>
      </a:dk2>
      <a:lt2>
        <a:srgbClr val="DCDFE4"/>
      </a:lt2>
      <a:accent1>
        <a:srgbClr val="0B6FA8"/>
      </a:accent1>
      <a:accent2>
        <a:srgbClr val="5B6B85"/>
      </a:accent2>
      <a:accent3>
        <a:srgbClr val="B7791F"/>
      </a:accent3>
      <a:accent4>
        <a:srgbClr val="38BDF8"/>
      </a:accent4>
      <a:accent5>
        <a:srgbClr val="FBBF24"/>
      </a:accent5>
      <a:accent6>
        <a:srgbClr val="9AA8BF"/>
      </a:accent6>
      <a:hlink>
        <a:srgbClr val="0563C1"/>
      </a:hlink>
      <a:folHlink>
        <a:srgbClr val="954F72"/>
      </a:folHlink>
    </a:clrScheme>
    <a:fontScheme name="Designing Accessible Tables">
      <a:majorFont>
        <a:latin typeface="JetBrains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1701</Words>
  <Application>Microsoft Office PowerPoint</Application>
  <PresentationFormat>Widescreen</PresentationFormat>
  <Paragraphs>230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DM Sans</vt:lpstr>
      <vt:lpstr>JetBrains Mono</vt:lpstr>
      <vt:lpstr>Designing Accessible Tables</vt:lpstr>
      <vt:lpstr>Designing Accessible Tables</vt:lpstr>
      <vt:lpstr>What we will cover</vt:lpstr>
      <vt:lpstr>What is an HTML table?</vt:lpstr>
      <vt:lpstr>Tables and accessibility</vt:lpstr>
      <vt:lpstr>A basic table</vt:lpstr>
      <vt:lpstr>Table attributes</vt:lpstr>
      <vt:lpstr>rowspan and colspan</vt:lpstr>
      <vt:lpstr>Tabular data in practice</vt:lpstr>
      <vt:lpstr>Editing table layouts</vt:lpstr>
      <vt:lpstr>Why do we style a table?</vt:lpstr>
      <vt:lpstr>How to style a table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Accessible Tables</dc:title>
  <dc:subject/>
  <dc:creator/>
  <cp:lastModifiedBy>ABDULLAH SHAIKH</cp:lastModifiedBy>
  <cp:revision>2</cp:revision>
  <dcterms:created xsi:type="dcterms:W3CDTF">2026-10-11T08:21:04Z</dcterms:created>
  <dcterms:modified xsi:type="dcterms:W3CDTF">2026-10-13T15:57:22Z</dcterms:modified>
</cp:coreProperties>
</file>